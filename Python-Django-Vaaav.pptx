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731520"/>
            <a:ext cx="3657600" cy="3657600"/>
          </a:xfrm>
          <a:prstGeom prst="ellipse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1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194560" cy="347472"/>
          </a:xfrm>
          <a:prstGeom prst="round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200" b="1">
                <a:cs typeface="Calibri"/>
                <a:ea typeface="Calibri"/>
                <a:solidFill>
                  <a:srgbClr val="0B1422"/>
                </a:solidFill>
                <a:latin typeface="Calibri"/>
              </a:rPr>
              <a:t>PYTHON × DJANGO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5156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Kompyuterlarni boshqaradigan</a:t>
            </a:r>
          </a:p>
          <a:p>
            <a:pPr algn="l">
              <a:spcAft>
                <a:spcPts val="1000"/>
              </a:spcAft>
            </a:pPr>
            <a:r>
              <a:rPr sz="4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ENG KUCHLI BOSHLANG‘ICH TIL</a:t>
            </a:r>
          </a:p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Qanday ishlaydi? Django nima? Nima uchun millionlab dasturchilar tanlaydi?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Dasturlashni hali bilmaydiganlar uchun — lekin “vaaav” darajasida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BIRINCHI “VAAAV”</a:t>
            </a:r>
          </a:p>
          <a:p>
            <a:pPr algn="l">
              <a:spcAft>
                <a:spcPts val="600"/>
              </a:spcAft>
            </a:pPr>
            <a:r>
              <a:rPr sz="3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— shunchaki maktab tili 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51760" cy="347472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#1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Ko‘p reytinglarda
eng ommabop tillardan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651760" cy="347472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1 qator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Boshqa tillarda 5–10
qator bo‘ladigan 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2651760" cy="347472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AI+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Sun’iy intellektning
asosiy tili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828800"/>
            <a:ext cx="2651760" cy="347472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Instagram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Django (Python)
ustida qurilgan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ASOS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Dasturlash = kompyuterga aniq buyruq berish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0B14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Siz g‘oya o‘ylaysiz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Masalan: son topish o‘yini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0B14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0040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tilida yozasiz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Kompyuter tushunadigan qoidalar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817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0B142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57200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Kompyuter bajaradi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Sekundda millionlab amal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PYTHON QANDAY ISHLAYDI?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Siz yozgan kod → mashina tushunadigan yo‘l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2103120" cy="29260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2103120" cy="109728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.py fayl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Siz yozgan
matn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5999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11680"/>
            <a:ext cx="2103120" cy="29260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2103120" cy="109728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Compiler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Bytecode
ga aylantiradi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011680"/>
            <a:ext cx="2103120" cy="29260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4920" y="2011680"/>
            <a:ext cx="2103120" cy="109728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.pyc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Tezroq
yuklanadigan shakl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39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39" y="2011680"/>
            <a:ext cx="2103120" cy="29260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39" y="2011680"/>
            <a:ext cx="2103120" cy="109728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799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PVM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Python Virtual
Machine bajaradi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8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2011680"/>
            <a:ext cx="2103120" cy="29260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38360" y="2011680"/>
            <a:ext cx="2103120" cy="109728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Natija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Ekran / sayt
/ hisob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SIR OCHILADI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— sof interpretator 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1148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91440" cy="4114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937760" cy="3794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Ko‘pchilik o‘ylaydi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“Python qatorma-qator o‘qiydi.”
Bu yarim rost.
Aslida CPython avval bytecode yasaydi, keyin Virtual Machine uni uchirib bajaradi.
Shuning uchun ham tezroq va aqlliroq ishlaydi.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41148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47088"/>
            <a:ext cx="4937760" cy="3794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Haqiqat (CPython)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1) Parser → AST (daraxt)
2) Compiler → bytecode
3) PVM → bajarish
4) Xotira: havola + GC
Natija: yozish oson, lekin ichida jiddiy “motor” bor.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XOTIRA SEHRI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O‘zgaruvchi — quti emas, ishora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57600" cy="42062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91440" cy="4206240"/>
          </a:xfrm>
          <a:prstGeom prst="rect">
            <a:avLst/>
          </a:prstGeom>
          <a:solidFill>
            <a:srgbClr val="9A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329184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Boshqa tillarda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Ko‘pincha qiymat to‘g‘ridan-to‘g‘ri “quti”ga yoziladi.
Nusxa olish chalkash bo‘lishi mumkin.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657600" cy="42062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554480"/>
            <a:ext cx="91440" cy="420624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755648"/>
            <a:ext cx="329184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da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x = [1,2,3]
x — bu listga HAVOLA.
y = x desangiz — yangi list emas, XUDDI SHU obyekt.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554480"/>
            <a:ext cx="3108960" cy="42062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1554480"/>
            <a:ext cx="91440" cy="420624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1755648"/>
            <a:ext cx="274320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Nima uchun muhim?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Tezlik + xotira tejash.
Katta ma’lumotni keraksiz ko‘paytirmaydi.
GC axlatni o‘zi yig‘adi.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BOSHQA TILLAR QIYIN QILADIGAN NARSALAR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Pythonning “super kuchlari”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91440" cy="214884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0992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AI / Machine Learning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TensorFlow, PyTorch, scikit-learn — dunyo standarti deyarli Python.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91440" cy="214884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70992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1 tilda 5 kasb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Veb + data + AI + avtomatlashtirish + skript — bitta til.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50876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508760"/>
            <a:ext cx="91440" cy="214884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0992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Juda tez prototip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G‘oyadan ishlaydigan dasturga soatlar ichida.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91440" cy="214884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04164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Fan va hisob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NASA, CERN, universitetlar — tadqiqotning sevimli tili.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4048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840480"/>
            <a:ext cx="91440" cy="214884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404164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Avtomatlashtirish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Excel, fayl, brauzer, bot — kundalik ishlarni “robotlashtirish”.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84048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840480"/>
            <a:ext cx="91440" cy="214884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404164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O‘qilishi = hujjat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Kodni o‘qib tushunish oson — jamoa tez ishlaydi.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FRAMEWORK GALAKTIKASI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Pythonning eng mashhur “qurollari”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57600" cy="128016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Django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To‘liq veb platforma
Instagram darajasi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3657600" cy="128016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FastAPI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Zamonaviy API
Juda tez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3657600" cy="128016"/>
          </a:xfrm>
          <a:prstGeom prst="rect">
            <a:avLst/>
          </a:prstGeom>
          <a:solidFill>
            <a:srgbClr val="6E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Flask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Yengil veb
Kichik loyihalar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3657600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PyTorch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AI / deep learning
Tadqiqot + sanoat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88620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886200"/>
            <a:ext cx="3657600" cy="128016"/>
          </a:xfrm>
          <a:prstGeom prst="rect">
            <a:avLst/>
          </a:prstGeom>
          <a:solidFill>
            <a:srgbClr val="9BD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25196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Pandas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Ma’lumotlar jami
Excel dan kuchli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88620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886200"/>
            <a:ext cx="3657600" cy="128016"/>
          </a:xfrm>
          <a:prstGeom prst="rect">
            <a:avLst/>
          </a:prstGeom>
          <a:solidFill>
            <a:srgbClr val="F7A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25196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Selenium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Brauzer avtomat
Test va botlar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E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28800" cy="347472"/>
          </a:xfrm>
          <a:prstGeom prst="round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288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200" b="1">
                <a:cs typeface="Calibri"/>
                <a:ea typeface="Calibri"/>
                <a:solidFill>
                  <a:srgbClr val="0B1422"/>
                </a:solidFill>
                <a:latin typeface="Calibri"/>
              </a:rPr>
              <a:t>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058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6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Sayt qurish uchun</a:t>
            </a:r>
          </a:p>
          <a:p>
            <a:pPr algn="l">
              <a:spcAft>
                <a:spcPts val="1200"/>
              </a:spcAft>
            </a:pPr>
            <a:r>
              <a:rPr sz="3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TAYYOR “SHAHAR INFRASTRUKTURASI”</a:t>
            </a:r>
          </a:p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Login, baza, admin, xavfsizlik — hammasi ichida. Siz g‘oya va mantiqqa e’tibor qaratasiz.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DJANGO QANDAY ISHLAYDI?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Bir so‘rovning sayohati (Request Journey)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91440" cy="224028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32918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1. Brauzer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Foydalanuvchi
tugmani bosadi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91440" cy="224028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618488"/>
            <a:ext cx="32918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2. URL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Django yo‘lni
topadi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41732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417320"/>
            <a:ext cx="91440" cy="224028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18488"/>
            <a:ext cx="32918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3. View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Mantiq ishlaydi
(Python kodi)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86200"/>
            <a:ext cx="91440" cy="224028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087368"/>
            <a:ext cx="32918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4. Model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Bazadan
ma’lumot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8620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886200"/>
            <a:ext cx="91440" cy="224028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4087368"/>
            <a:ext cx="32918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5. Template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HTML
yasailadi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886200"/>
            <a:ext cx="3657600" cy="22402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886200"/>
            <a:ext cx="91440" cy="224028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4087368"/>
            <a:ext cx="32918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6. Javob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Sahifa
qaytadi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DJANGO ARXITEKTURASI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MTV — Model · Template ·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402336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566160" cy="82296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0B1422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Ma’lumotlar
(foydalanuvchi, mahsulot…)
Bazaga bog‘lanadi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566160" cy="402336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3566160" cy="82296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2024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0B1422"/>
                </a:solidFill>
                <a:latin typeface="Calibri"/>
              </a:rPr>
              <a:t>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26080"/>
            <a:ext cx="30175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Miya
Qanday javob berish?
Qanday hisoblash?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566160" cy="402336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3566160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0B1422"/>
                </a:solidFill>
                <a:latin typeface="Calibri"/>
              </a:rPr>
              <a:t>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30175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Ko‘rinish
Foydalanuvchi ko‘radigan
HTML sahifa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DJANGO SUPERPOWERS</a:t>
            </a:r>
          </a:p>
          <a:p>
            <a:pPr algn="l">
              <a:spcAft>
                <a:spcPts val="600"/>
              </a:spcAft>
            </a:pPr>
            <a:r>
              <a:rPr sz="2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Boshqa yondashuvlarda qo‘lda yoziladigan narsalar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91440" cy="214884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Admin panel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1 buyruq bilan boshqaruv paneli — mahsulot/user qo‘shish.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91440" cy="214884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66420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ORM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SQL ni deyarli yozmasdan baza bilan ishlash.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46304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463040"/>
            <a:ext cx="91440" cy="214884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6420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Auth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Ro‘yxatdan o‘tish, parol, ruxsatlar — tayyor.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94760"/>
            <a:ext cx="91440" cy="214884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9592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Xavfsizlik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CSRF, XSS himoyasi — “bateryalar ichida”.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9476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91440" cy="214884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399592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Migrations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Baza o‘zgarishlarini versiya qilib saqlaydi.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794760"/>
            <a:ext cx="3657600" cy="214884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794760"/>
            <a:ext cx="91440" cy="214884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3995928"/>
            <a:ext cx="32918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Scalable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Kichik blogdan Instagram darajasigacha yo‘l ochiq.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QAYSI FRAMEWORK?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Django · Flask · 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72800" cy="13716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46304" cy="1371600"/>
          </a:xfrm>
          <a:prstGeom prst="rect">
            <a:avLst/>
          </a:prstGeom>
          <a:solidFill>
            <a:srgbClr val="F5B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Django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Qachon?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F2F6FB"/>
                </a:solidFill>
                <a:latin typeface="Calibri"/>
              </a:rPr>
              <a:t>Katta sayt, admin, tez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91640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His?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F2F6FB"/>
                </a:solidFill>
                <a:latin typeface="Calibri"/>
              </a:rPr>
              <a:t>To‘liq “kombayn”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10972800" cy="13716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146304" cy="13716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Qachon?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F2F6FB"/>
                </a:solidFill>
                <a:latin typeface="Calibri"/>
              </a:rPr>
              <a:t>Kichik API / sayt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46120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His?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F2F6FB"/>
                </a:solidFill>
                <a:latin typeface="Calibri"/>
              </a:rPr>
              <a:t>Minimal, erkin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10972800" cy="13716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146304" cy="1371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00600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Qachon?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F2F6FB"/>
                </a:solidFill>
                <a:latin typeface="Calibri"/>
              </a:rPr>
              <a:t>Zamonaviy API, AI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800600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His?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F2F6FB"/>
                </a:solidFill>
                <a:latin typeface="Calibri"/>
              </a:rPr>
              <a:t>Juda tez + avto-docs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HAQIQIY DUNYO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+ Django — kim ishlatadi?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11880" cy="20116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Instagram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Django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611880" cy="20116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57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YouTube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3611880" cy="20116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057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Spotify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3611880" cy="20116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NASA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840480"/>
            <a:ext cx="3611880" cy="20116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343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Pinterest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Django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840480"/>
            <a:ext cx="3611880" cy="201168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343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Dropbox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Python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YO‘L XARITA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Noldan “vaaav” gacha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2194560" cy="32004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01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asoslari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print, if, funksiya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11680"/>
            <a:ext cx="2194560" cy="32004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02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Loyiha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O‘yin / todo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011680"/>
            <a:ext cx="2194560" cy="32004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03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Django start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Birinchi sahifa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39" y="2011680"/>
            <a:ext cx="2194560" cy="32004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799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04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Django pro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Login + baza +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2011680"/>
            <a:ext cx="2194560" cy="3200400"/>
          </a:xfrm>
          <a:prstGeom prst="roundRect">
            <a:avLst/>
          </a:prstGeom>
          <a:solidFill>
            <a:srgbClr val="162A44"/>
          </a:solidFill>
          <a:ln>
            <a:solidFill>
              <a:srgbClr val="2A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05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Portfolio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O‘z saytingiz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D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1400" b="1">
                <a:cs typeface="Calibri"/>
                <a:ea typeface="Calibri"/>
                <a:solidFill>
                  <a:srgbClr val="2ED3B7"/>
                </a:solidFill>
                <a:latin typeface="Calibri"/>
              </a:rPr>
              <a:t>XULOSA</a:t>
            </a:r>
          </a:p>
          <a:p>
            <a:pPr algn="l">
              <a:spcAft>
                <a:spcPts val="1600"/>
              </a:spcAft>
            </a:pPr>
            <a:r>
              <a:rPr sz="34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— oson ko‘rinadi.
Ichida esa jiddiy motor.</a:t>
            </a:r>
          </a:p>
          <a:p>
            <a:pPr algn="l">
              <a:spcAft>
                <a:spcPts val="2000"/>
              </a:spcAft>
            </a:pPr>
            <a:r>
              <a:rPr sz="2000" b="0">
                <a:cs typeface="Calibri"/>
                <a:ea typeface="Calibri"/>
                <a:solidFill>
                  <a:srgbClr val="9AB0C6"/>
                </a:solidFill>
                <a:latin typeface="Calibri"/>
              </a:rPr>
              <a:t>Django — shu motor bilan butun sayt shaharini qurish.</a:t>
            </a:r>
          </a:p>
          <a:p>
            <a:pPr algn="l">
              <a:spcAft>
                <a:spcPts val="600"/>
              </a:spcAft>
            </a:pPr>
            <a:r>
              <a:rPr sz="1800" b="1">
                <a:cs typeface="Calibri"/>
                <a:ea typeface="Calibri"/>
                <a:solidFill>
                  <a:srgbClr val="F5B32E"/>
                </a:solidFill>
                <a:latin typeface="Calibri"/>
              </a:rPr>
              <a:t>Keyingi qadam: birinchi print("Salom") — keyin Django.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