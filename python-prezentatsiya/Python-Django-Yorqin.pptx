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011680" cy="34747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DARS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5156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34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 asoslari va Django yo‘nalishi</a:t>
            </a:r>
          </a:p>
          <a:p>
            <a:pPr algn="l">
              <a:spcAft>
                <a:spcPts val="16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Mavzu tartibi:
1) Pythonning sintaksisi va tip tizimi
2) Mashhur framework / kutubxonalar
3) Django — tushunchalar va ishlash tartibi
4) Django REST Framework</a:t>
            </a:r>
          </a:p>
          <a:p>
            <a:pPr algn="l">
              <a:spcAft>
                <a:spcPts val="400"/>
              </a:spcAft>
            </a:pPr>
            <a:r>
              <a:rPr sz="1600" b="1">
                <a:cs typeface="Calibri"/>
                <a:ea typeface="Calibri"/>
                <a:solidFill>
                  <a:srgbClr val="C2410C"/>
                </a:solidFill>
                <a:latin typeface="Calibri"/>
              </a:rPr>
              <a:t>Maqsad: umumiy tushuncha + amaliy misol orqali o‘tish.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1-MAVZU · SINTAKSIS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Boshqa tillarda 5–10 qator — Python da ko‘pincha 1–3 qator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Pastda bir xil vazifa: ro‘yxatdan juft sonlarni olish.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548640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48640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Java (uzunroq)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12064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List&lt;Integer&gt; nums = Arrays.asList(1,2,3,4,5);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List&lt;Integer&gt; evens = new ArrayList&lt;&gt;();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for (Integer n : nums) {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if (n % 2 == 0) {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    evens.add(n);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System.out.println(evens);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9496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3949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 (qisqa)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50292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nums = [1, 2, 3, 4, 5]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evens = [n for n in nums if n % 2 == 0]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print(evens)  # [2, 4]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Xulosa: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bir xil natija — kamroq kod,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o‘qish osonroq.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2-MAVZU · TIP TIZIMI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 da tip avtomatik; Java da odatda aniq yoziladi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86400" cy="18288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1828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10235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Umumiy tushuncha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Ko‘p tillarda o‘zgaruvchi ochilganda tip ham yoziladi (int, String…).
Python da tip majburiy yozilmaydi — qiymatga qarab aniqlanadi.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94960" cy="18288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109728" cy="18288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50109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Nima beradi?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Tezroq yozish, kamroq “rasmiyatchilik”.
Lekin katta loyihada type hint (ixtiyoriy) tavsiya etiladi.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83280"/>
            <a:ext cx="548640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548640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5120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int yosh = 18;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String ism = "Ali";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double narx = 12.5;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boolean aktiv = true;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39496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383280"/>
            <a:ext cx="539496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50292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yosh = 18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ism = "Ali"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narx = 12.5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aktiv = True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tipni Python o‘zi biladi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3-MAVZU · KUCHLI XUSUSIYATLAR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Har bir xususiyat — pastida qisqa misol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09728" cy="2331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O‘qilishi oson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Kod oddiy gapga yaqin.
Misol:
print("Salom")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280160"/>
            <a:ext cx="109728" cy="2331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Indentatsiya majburiy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Bloklar bo‘sh joy bilan.
Misol:
if yosh &gt;= 18:
    print("Katta")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4048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40480"/>
            <a:ext cx="109728" cy="2331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f-string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Matnga qiymat qo‘shish oson.
Misol:
print(f"Salom, {ism}")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40480"/>
            <a:ext cx="553212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109728" cy="233172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023360"/>
            <a:ext cx="514807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Keng ekotizim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Veb, AI, data — bitta til.
Misol yo‘nalishlar:
Django, Pandas, PyTorch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3-MAVZU DAVOMI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Yana 2 ta amaliy xususiyat — misol bilan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864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548640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1) List / dict — qulay ma’lumot tuzilmasi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talaba = {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"ism": "Ali",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"ball": 95,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print(talaba["ism"])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fanlar = ["Python", "Django"]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fanlar.append("REST")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9496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94960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2) Funksiya — qisqa va aniq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0292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def yigindi(a, b):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return a + b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print(yigindi(2, 3))  # 5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86EFAC"/>
                </a:solidFill>
                <a:latin typeface="Consolas"/>
              </a:rPr>
              <a:t># Default qiymat: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def salom(ism="mehmon"):</a:t>
            </a:r>
          </a:p>
          <a:p>
            <a:pPr algn="l">
              <a:spcAft>
                <a:spcPts val="200"/>
              </a:spcAft>
            </a:pPr>
            <a:r>
              <a:rPr sz="1300" b="0">
                <a:cs typeface="Consolas"/>
                <a:ea typeface="Consolas"/>
                <a:solidFill>
                  <a:srgbClr val="E2E8F0"/>
                </a:solidFill>
                <a:latin typeface="Consolas"/>
              </a:rPr>
              <a:t>    return f"Salom, {ism}"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4-MAVZU · EKOTIZIM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Pythonning mashhur framework va kutubxonalari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09728" cy="15544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To‘liq veb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109728" cy="1554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6304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Flask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Yengil veb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280160"/>
            <a:ext cx="109728" cy="15544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FastAPI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Zamonaviy API framework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71800"/>
            <a:ext cx="109728" cy="15544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Pandas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Ma’lumotlar tahlili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7180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971800"/>
            <a:ext cx="109728" cy="1554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15468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NumPy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Ilmiy / tez hisob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297180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2971800"/>
            <a:ext cx="109728" cy="15544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15468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PyTorch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Deep Learning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6344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63440"/>
            <a:ext cx="109728" cy="15544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TensorFlow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Machine Learning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66344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663440"/>
            <a:ext cx="109728" cy="15544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84632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Requests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HTTP so‘rovlar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663440"/>
            <a:ext cx="3657600" cy="15544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4663440"/>
            <a:ext cx="109728" cy="1554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846320"/>
            <a:ext cx="32735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SQLAlchemy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ORM / baza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5-MAVZU · TANLOV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Veb yo‘nalishida eng mashhuri — Django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657600" cy="46634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9728" cy="4663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3273552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Flask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Kichik loyiha / API.
Minimal.
Ko‘p qismni o‘zingiz ulaysiz.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657600" cy="46634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109728" cy="4663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3273552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FastAPI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API uchun zamonaviy.
Tezlik + hujjatlar.
Asosan backend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71600"/>
            <a:ext cx="3474720" cy="466344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371600"/>
            <a:ext cx="109728" cy="4663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1554480"/>
            <a:ext cx="3090672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(asosiy e’tibor)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To‘liq veb platforma.
Auth, admin, ORM, xavfsizlik — ichida.
Shu darsda Django ga o‘tamiz.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6-MAVZU · DJANGO OLDIDAN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ga tegishli muhim tushunchalar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09728" cy="2331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Project / App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Project — butun loyiha.
App — ichidagi modul (masalan, blog, shop).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801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80160"/>
            <a:ext cx="109728" cy="2331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630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URL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Qaysi manzil qaysi funksiyaga boradi.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280160"/>
            <a:ext cx="109728" cy="2331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View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So‘rovni qabul qiladi, javob tayyorlaydi.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94760"/>
            <a:ext cx="109728" cy="233172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Model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 strukturasi (bazadagi jadval).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947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794760"/>
            <a:ext cx="109728" cy="2331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9776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Template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HTML ko‘rinish (foydalanuvchi ko‘radigan sahifa).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794760"/>
            <a:ext cx="3657600" cy="233172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794760"/>
            <a:ext cx="109728" cy="2331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77640"/>
            <a:ext cx="3273552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ORM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Python orqali baza bilan ishlash (SQL kamroq).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7-MAVZU · DJANGO QANDAY ISHLAYDI?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Bitta so‘rovning ketma-ketligi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1. Request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Brauzer / ilova
so‘rov yuboradi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109728" cy="2286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2. URL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 to‘g‘ri
yo‘lni topadi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32588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80" y="1325880"/>
            <a:ext cx="109728" cy="2286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50876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3. View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Mantiq ishlaydi
(Python)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9476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7947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4. Model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Kerak bo‘lsa
bazadan oladi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9476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794760"/>
            <a:ext cx="109728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97764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5. Template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HTML yasaydi
(klassik usul)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794760"/>
            <a:ext cx="3657600" cy="2286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794760"/>
            <a:ext cx="109728" cy="2286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77640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6. Response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Javob qaytadi
foydalanuvchiga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7-MAVZU DAVOMI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MTV modeli — Django ning asosiy sxemasi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57600" cy="4572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09728" cy="457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327355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Model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Ma’lumot.
Masalan:
User, Product, Post
Baza bilan bog‘lanadi.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657600" cy="4572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417320"/>
            <a:ext cx="109728" cy="45720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327355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Template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Ko‘rinish.
HTML sahifa.
Foydalanuvchi shuni ko‘radi.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474720" cy="457200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417320"/>
            <a:ext cx="109728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1600200"/>
            <a:ext cx="3090672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View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Mantiq.
So‘rov keldi →
qanday javob?
Model/Template chaqiriladi.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8-MAVZU · CHEGARA VA YECHIM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Template kamchiligi → Django 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8640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4754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10235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Template bilan ishlash — qachon kamchilik?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Klassik Django ko‘pincha HTML qaytaradi.
Lekin:
• Mobil ilova HTML emas, JSON xohlaydi
• React / Vue alohida frontend
• Boshqa dasturlar bilan bog‘lanish kerak
Ya’ni: faqat template yetarli bo‘lmaydi.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39496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109728" cy="4754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501091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Shuning uchun Django REST chiqdi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 REST Framework (DRF):
• JSON API beradi
• Mobil / SPA ulanadi
• Serializer, auth, hujjatlar
Xulosa: Django — asos.
DRF — Django ni API qilib kengaytiradi.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9-MAVZU · DJANGO REST FRAMEWORK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 qila olmaydigan (yoki qiyin) ishlarni REST orqali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109728" cy="4754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27355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Vazifa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Ma’lumotni HTML emas,
JSON ko‘rinishida berish.
Masalan:
/api/products/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65760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325880"/>
            <a:ext cx="109728" cy="4754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08760"/>
            <a:ext cx="327355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Asosiy qismlar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• Serializer
• ViewSet / APIView
• Router
• Token / JWT auth
• 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25880"/>
            <a:ext cx="3474720" cy="4754880"/>
          </a:xfrm>
          <a:prstGeom prst="roundRect">
            <a:avLst/>
          </a:prstGeom>
          <a:solidFill>
            <a:srgbClr val="F8FAFC"/>
          </a:solidFill>
          <a:ln w="2222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83879" y="1325880"/>
            <a:ext cx="109728" cy="4754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199" y="1508760"/>
            <a:ext cx="3090672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Qachon o‘rganamiz?</a:t>
            </a:r>
          </a:p>
          <a:p>
            <a:pPr algn="l">
              <a:spcAft>
                <a:spcPts val="0"/>
              </a:spcAft>
            </a:pPr>
            <a:r>
              <a:rPr sz="13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Avval Django asoslari.
Keyin frontend yoki mobil kerak bo‘lsa — DRF.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XULOSA</a:t>
            </a:r>
          </a:p>
          <a:p>
            <a:pPr algn="l">
              <a:spcAft>
                <a:spcPts val="0"/>
              </a:spcAft>
            </a:pPr>
            <a:r>
              <a:rPr sz="26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Bugungi darsdan olib ketiladigan asoslar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3619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28016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Qisqa sintaksis + tipni o‘zi aniqlashi — tez o‘rganishga yordam beradi.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51760"/>
            <a:ext cx="640080" cy="6400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251460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269748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Ekotizim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Django, Flask, FastAPI, Pandas, PyTorch — yo‘nalishga qarab tanlanadi.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374904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Django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Vebda eng mashhur to‘liq framework: URL → View → Model/Template.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39512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cs typeface="Calibri"/>
                <a:ea typeface="Calibri"/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4983480"/>
            <a:ext cx="996696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16636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DRF</a:t>
            </a:r>
          </a:p>
          <a:p>
            <a:pPr algn="l">
              <a:spcAft>
                <a:spcPts val="0"/>
              </a:spcAft>
            </a:pPr>
            <a:r>
              <a:rPr sz="14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Template yetmaganda REST API orqali mobil/SPA ulanadi.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cs typeface="Calibri"/>
                <a:ea typeface="Calibri"/>
                <a:solidFill>
                  <a:srgbClr val="0284C7"/>
                </a:solidFill>
                <a:latin typeface="Calibri"/>
              </a:rPr>
              <a:t>KEYINGI QADAM</a:t>
            </a:r>
          </a:p>
          <a:p>
            <a:pPr algn="l">
              <a:spcAft>
                <a:spcPts val="1800"/>
              </a:spcAft>
            </a:pPr>
            <a:r>
              <a:rPr sz="2800" b="1">
                <a:cs typeface="Calibri"/>
                <a:ea typeface="Calibri"/>
                <a:solidFill>
                  <a:srgbClr val="0F172A"/>
                </a:solidFill>
                <a:latin typeface="Calibri"/>
              </a:rPr>
              <a:t>Python asoslarini mustahkamlash →
kichik loyiha → Django amaliyoti →
kerak bo‘lsa Django REST.</a:t>
            </a:r>
          </a:p>
          <a:p>
            <a:pPr algn="l">
              <a:spcAft>
                <a:spcPts val="400"/>
              </a:spcAft>
            </a:pPr>
            <a:r>
              <a:rPr sz="1800" b="0">
                <a:cs typeface="Calibri"/>
                <a:ea typeface="Calibri"/>
                <a:solidFill>
                  <a:srgbClr val="334155"/>
                </a:solidFill>
                <a:latin typeface="Calibri"/>
              </a:rPr>
              <a:t>Savollar bo‘lsa — shu yerda yozib qo‘yamiz.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