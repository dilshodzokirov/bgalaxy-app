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35BBE9-F7F2-4369-ABF0-3F4F67ACB8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E92FA3-C9EB-46F2-9D5F-8A1FC00E54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F914F5F-2DFB-4168-83CC-75ECD13357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96C758E-AD05-46B9-9734-052355D54A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CC54154-DC66-406F-9235-830AE2FC92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AE83A43-F9A1-4A87-9251-9A337546F7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EE33492-440F-4B1A-97EA-FFA1348849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59132EA-F983-40E7-871A-4702571FC2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DEBC54E-FEC8-4D41-B20D-C071D9B1B9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69A33D2-480B-41C4-82CF-4F685B3B35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53BF97A-9524-4C12-A1F4-B3F578EF41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88A0E8-23A6-44F0-BA45-9F9752EB1B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B4BC4E-A56E-4FA1-BCC3-303FCCB4A3E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EFEE97-243C-4D29-80FE-486C316CBD4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29C7C7-E0D0-4CF3-8701-17EA6FA971B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30B8F5-9C75-49AD-8C0F-30164B9B2F1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F6A39E-05F7-43C6-A6AA-B06C46EF021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98DB8A-0971-4F96-9047-D3D3BBA7F35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90969F-B31B-4D8E-9E75-BC9F6398FE5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EE7270-DAAD-46F9-B811-167A8336FC4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B111DD-13D1-40A3-9193-9F0F7CCBE0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D590F8-F410-4F14-952F-5B2CA98E10F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hero-baked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68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be1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Rounded Rectangle 3"/>
          <p:cNvSpPr/>
          <p:nvPr/>
        </p:nvSpPr>
        <p:spPr>
          <a:xfrm>
            <a:off x="411480" y="1005840"/>
            <a:ext cx="8412120" cy="4845960"/>
          </a:xfrm>
          <a:prstGeom prst="roundRect">
            <a:avLst>
              <a:gd name="adj" fmla="val 16667"/>
            </a:avLst>
          </a:prstGeom>
          <a:solidFill>
            <a:srgbClr val="0b12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Rounded Rectangle 4"/>
          <p:cNvSpPr/>
          <p:nvPr/>
        </p:nvSpPr>
        <p:spPr>
          <a:xfrm>
            <a:off x="685800" y="1280160"/>
            <a:ext cx="4388760" cy="365400"/>
          </a:xfrm>
          <a:prstGeom prst="roundRect">
            <a:avLst>
              <a:gd name="adj" fmla="val 16667"/>
            </a:avLst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85800" y="1334160"/>
            <a:ext cx="43887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MUAMMOGA ASOSLANGAN O‘QITISH (PBL)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685800" y="1874520"/>
            <a:ext cx="7863480" cy="22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Python → Django → Django REST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600" spc="-1" strike="noStrike">
                <a:solidFill>
                  <a:srgbClr val="e2e8f0"/>
                </a:solidFill>
                <a:latin typeface="Calibri"/>
                <a:ea typeface="Calibri"/>
              </a:rPr>
              <a:t>1) Python nima? Xususiyatlari va boshqa tillarga nisbatan yutuqlari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600" spc="-1" strike="noStrike">
                <a:solidFill>
                  <a:srgbClr val="e2e8f0"/>
                </a:solidFill>
                <a:latin typeface="Calibri"/>
                <a:ea typeface="Calibri"/>
              </a:rPr>
              <a:t>2) Muammo: veb kerak → Django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600" spc="-1" strike="noStrike">
                <a:solidFill>
                  <a:srgbClr val="e2e8f0"/>
                </a:solidFill>
                <a:latin typeface="Calibri"/>
                <a:ea typeface="Calibri"/>
              </a:rPr>
              <a:t>3) Muammo: telefon + ish stoli + sayt parallel → DRF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pc="-1" strike="noStrike">
                <a:solidFill>
                  <a:srgbClr val="fdba74"/>
                </a:solidFill>
                <a:latin typeface="Calibri"/>
                <a:ea typeface="Calibri"/>
              </a:rPr>
              <a:t>Qoida: avval MUAMMO, keyin YECHIM.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685800" y="5349240"/>
            <a:ext cx="7863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v8 · rasmlar aniq ko‘rinadi · o‘zbekcha atamalar (inglizchasi qavsda)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Oval 1"/>
          <p:cNvSpPr/>
          <p:nvPr/>
        </p:nvSpPr>
        <p:spPr>
          <a:xfrm>
            <a:off x="10241280" y="-731520"/>
            <a:ext cx="2925720" cy="2925720"/>
          </a:xfrm>
          <a:prstGeom prst="ellipse">
            <a:avLst/>
          </a:prstGeom>
          <a:solidFill>
            <a:srgbClr val="e0f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Oval 2"/>
          <p:cNvSpPr/>
          <p:nvPr/>
        </p:nvSpPr>
        <p:spPr>
          <a:xfrm>
            <a:off x="-822960" y="4937760"/>
            <a:ext cx="2377080" cy="2377080"/>
          </a:xfrm>
          <a:prstGeom prst="ellipse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Rectangl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Rectangle 4"/>
          <p:cNvSpPr/>
          <p:nvPr/>
        </p:nvSpPr>
        <p:spPr>
          <a:xfrm>
            <a:off x="7635240" y="0"/>
            <a:ext cx="457164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8" name="Picture 5" descr="panel-python.jpg"/>
          <p:cNvPicPr/>
          <p:nvPr/>
        </p:nvPicPr>
        <p:blipFill>
          <a:blip r:embed="rId1"/>
          <a:stretch/>
        </p:blipFill>
        <p:spPr>
          <a:xfrm>
            <a:off x="7635240" y="0"/>
            <a:ext cx="4571640" cy="6857640"/>
          </a:xfrm>
          <a:prstGeom prst="rect">
            <a:avLst/>
          </a:prstGeom>
          <a:ln w="0">
            <a:noFill/>
          </a:ln>
        </p:spPr>
      </p:pic>
      <p:sp>
        <p:nvSpPr>
          <p:cNvPr id="79" name="TextBox 6"/>
          <p:cNvSpPr/>
          <p:nvPr/>
        </p:nvSpPr>
        <p:spPr>
          <a:xfrm>
            <a:off x="502920" y="255960"/>
            <a:ext cx="7772040" cy="6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0284c7"/>
                </a:solidFill>
                <a:latin typeface="Calibri"/>
                <a:ea typeface="Calibri"/>
              </a:rPr>
              <a:t>PYTHON · SAVOL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0f172a"/>
                </a:solidFill>
                <a:latin typeface="Calibri"/>
                <a:ea typeface="Calibri"/>
              </a:rPr>
              <a:t>Python nima?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ounded Rectangle 7"/>
          <p:cNvSpPr/>
          <p:nvPr/>
        </p:nvSpPr>
        <p:spPr>
          <a:xfrm>
            <a:off x="457200" y="1234440"/>
            <a:ext cx="685764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284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685800" y="1417320"/>
            <a:ext cx="64918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pc="-1" strike="noStrike">
                <a:solidFill>
                  <a:srgbClr val="0f172a"/>
                </a:solidFill>
                <a:latin typeface="Calibri"/>
                <a:ea typeface="Calibri"/>
              </a:rPr>
              <a:t>Python — umumiy maqsadli (general-purpose), yuqori darajali dasturlash tili.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f172a"/>
                </a:solidFill>
                <a:latin typeface="Calibri"/>
                <a:ea typeface="Calibri"/>
              </a:rPr>
              <a:t>Kod yoziladi, keyin talqinchi (interpreter) orqali bajariladi. Maqsad: odam o‘qishi oson bo‘lgan dastur yozish.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ounded Rectangle 9"/>
          <p:cNvSpPr/>
          <p:nvPr/>
        </p:nvSpPr>
        <p:spPr>
          <a:xfrm>
            <a:off x="457200" y="3017520"/>
            <a:ext cx="324576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Rectangle 10"/>
          <p:cNvSpPr/>
          <p:nvPr/>
        </p:nvSpPr>
        <p:spPr>
          <a:xfrm>
            <a:off x="457200" y="3017520"/>
            <a:ext cx="109440" cy="159984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11"/>
          <p:cNvSpPr/>
          <p:nvPr/>
        </p:nvSpPr>
        <p:spPr>
          <a:xfrm>
            <a:off x="713160" y="3182040"/>
            <a:ext cx="2861640" cy="9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Yuqori darajali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Past darajadagi xotira buyruqlari bilan emas — masala va mantiq bilan ishlaysiz.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ounded Rectangle 12"/>
          <p:cNvSpPr/>
          <p:nvPr/>
        </p:nvSpPr>
        <p:spPr>
          <a:xfrm>
            <a:off x="3886200" y="3017520"/>
            <a:ext cx="324576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Rectangle 13"/>
          <p:cNvSpPr/>
          <p:nvPr/>
        </p:nvSpPr>
        <p:spPr>
          <a:xfrm>
            <a:off x="3886200" y="3017520"/>
            <a:ext cx="109440" cy="1599840"/>
          </a:xfrm>
          <a:prstGeom prst="rect">
            <a:avLst/>
          </a:prstGeom>
          <a:solidFill>
            <a:srgbClr val="c241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14"/>
          <p:cNvSpPr/>
          <p:nvPr/>
        </p:nvSpPr>
        <p:spPr>
          <a:xfrm>
            <a:off x="4142160" y="3182040"/>
            <a:ext cx="2861640" cy="9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Talqin qilinadi (interpreted)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Ko‘pincha alohida exe majburiy emas. .py faylni talqinchi ishga tushiradi.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ounded Rectangle 15"/>
          <p:cNvSpPr/>
          <p:nvPr/>
        </p:nvSpPr>
        <p:spPr>
          <a:xfrm>
            <a:off x="457200" y="4754880"/>
            <a:ext cx="324576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angle 16"/>
          <p:cNvSpPr/>
          <p:nvPr/>
        </p:nvSpPr>
        <p:spPr>
          <a:xfrm>
            <a:off x="457200" y="4754880"/>
            <a:ext cx="109440" cy="1599840"/>
          </a:xfrm>
          <a:prstGeom prst="rect">
            <a:avLst/>
          </a:prstGeom>
          <a:solidFill>
            <a:srgbClr val="0478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17"/>
          <p:cNvSpPr/>
          <p:nvPr/>
        </p:nvSpPr>
        <p:spPr>
          <a:xfrm>
            <a:off x="713160" y="4919400"/>
            <a:ext cx="2861640" cy="10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Ko‘p uslubli (multi-paradigm)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Oddiy tartib, obyektli (OOP), funksiyaviy uslub — bir tilda birga.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ounded Rectangle 18"/>
          <p:cNvSpPr/>
          <p:nvPr/>
        </p:nvSpPr>
        <p:spPr>
          <a:xfrm>
            <a:off x="3886200" y="4754880"/>
            <a:ext cx="324576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ectangle 19"/>
          <p:cNvSpPr/>
          <p:nvPr/>
        </p:nvSpPr>
        <p:spPr>
          <a:xfrm>
            <a:off x="3886200" y="4754880"/>
            <a:ext cx="109440" cy="1599840"/>
          </a:xfrm>
          <a:prstGeom prst="rect">
            <a:avLst/>
          </a:prstGeom>
          <a:solidFill>
            <a:srgbClr val="be1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20"/>
          <p:cNvSpPr/>
          <p:nvPr/>
        </p:nvSpPr>
        <p:spPr>
          <a:xfrm>
            <a:off x="4142160" y="4919400"/>
            <a:ext cx="286164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Ochiq kodli (open source)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Erkin, katta jamiyat. Windows / macOS / Linux da bir xil fikrlash.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val 1"/>
          <p:cNvSpPr/>
          <p:nvPr/>
        </p:nvSpPr>
        <p:spPr>
          <a:xfrm>
            <a:off x="10241280" y="-731520"/>
            <a:ext cx="2925720" cy="2925720"/>
          </a:xfrm>
          <a:prstGeom prst="ellipse">
            <a:avLst/>
          </a:prstGeom>
          <a:solidFill>
            <a:srgbClr val="e0f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Oval 2"/>
          <p:cNvSpPr/>
          <p:nvPr/>
        </p:nvSpPr>
        <p:spPr>
          <a:xfrm>
            <a:off x="-822960" y="4937760"/>
            <a:ext cx="2377080" cy="2377080"/>
          </a:xfrm>
          <a:prstGeom prst="ellipse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Rectangl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7" name="Picture 4" descr="python-concept.jpg"/>
          <p:cNvPicPr/>
          <p:nvPr/>
        </p:nvPicPr>
        <p:blipFill>
          <a:blip r:embed="rId1"/>
          <a:stretch/>
        </p:blipFill>
        <p:spPr>
          <a:xfrm>
            <a:off x="8595360" y="182880"/>
            <a:ext cx="3291480" cy="959760"/>
          </a:xfrm>
          <a:prstGeom prst="rect">
            <a:avLst/>
          </a:prstGeom>
          <a:ln w="0">
            <a:noFill/>
          </a:ln>
        </p:spPr>
      </p:pic>
      <p:sp>
        <p:nvSpPr>
          <p:cNvPr id="98" name="TextBox 5"/>
          <p:cNvSpPr/>
          <p:nvPr/>
        </p:nvSpPr>
        <p:spPr>
          <a:xfrm>
            <a:off x="502920" y="255960"/>
            <a:ext cx="7772040" cy="6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0284c7"/>
                </a:solidFill>
                <a:latin typeface="Calibri"/>
                <a:ea typeface="Calibri"/>
              </a:rPr>
              <a:t>PYTHON · XUSUSIYATLAR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0f172a"/>
                </a:solidFill>
                <a:latin typeface="Calibri"/>
                <a:ea typeface="Calibri"/>
              </a:rPr>
              <a:t>Ichida nima bor — oson, lekin teran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ounded Rectangle 6"/>
          <p:cNvSpPr/>
          <p:nvPr/>
        </p:nvSpPr>
        <p:spPr>
          <a:xfrm>
            <a:off x="411480" y="123444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Rectangle 7"/>
          <p:cNvSpPr/>
          <p:nvPr/>
        </p:nvSpPr>
        <p:spPr>
          <a:xfrm>
            <a:off x="411480" y="1234440"/>
            <a:ext cx="109440" cy="246852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8"/>
          <p:cNvSpPr/>
          <p:nvPr/>
        </p:nvSpPr>
        <p:spPr>
          <a:xfrm>
            <a:off x="667440" y="1398960"/>
            <a:ext cx="327312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Sintaksis (syntax)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Bo‘sh joy bilan blok (indentatsiya) majburiy. Stil bir xil bo‘ladi, o‘qish osonlashadi.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ounded Rectangle 9"/>
          <p:cNvSpPr/>
          <p:nvPr/>
        </p:nvSpPr>
        <p:spPr>
          <a:xfrm>
            <a:off x="4251960" y="123444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ectangle 10"/>
          <p:cNvSpPr/>
          <p:nvPr/>
        </p:nvSpPr>
        <p:spPr>
          <a:xfrm>
            <a:off x="4251960" y="1234440"/>
            <a:ext cx="109440" cy="2468520"/>
          </a:xfrm>
          <a:prstGeom prst="rect">
            <a:avLst/>
          </a:prstGeom>
          <a:solidFill>
            <a:srgbClr val="c241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11"/>
          <p:cNvSpPr/>
          <p:nvPr/>
        </p:nvSpPr>
        <p:spPr>
          <a:xfrm>
            <a:off x="4507920" y="1398960"/>
            <a:ext cx="3273120" cy="11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O‘zgaruvchan tip (dynamic typing)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Tipni majburan yozmaysiz. Qiymatga qarab aniqlanadi. Katta loyihada tip ko‘rsatmasi (type hint) ixtiyoriy.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ounded Rectangle 12"/>
          <p:cNvSpPr/>
          <p:nvPr/>
        </p:nvSpPr>
        <p:spPr>
          <a:xfrm>
            <a:off x="8092440" y="123444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Rectangle 13"/>
          <p:cNvSpPr/>
          <p:nvPr/>
        </p:nvSpPr>
        <p:spPr>
          <a:xfrm>
            <a:off x="8092440" y="1234440"/>
            <a:ext cx="109440" cy="2468520"/>
          </a:xfrm>
          <a:prstGeom prst="rect">
            <a:avLst/>
          </a:prstGeom>
          <a:solidFill>
            <a:srgbClr val="0478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14"/>
          <p:cNvSpPr/>
          <p:nvPr/>
        </p:nvSpPr>
        <p:spPr>
          <a:xfrm>
            <a:off x="8348400" y="1398960"/>
            <a:ext cx="327312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Ichki boylik (batteries included)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Standart kutubxona boy: fayl, JSON, tarmoq so‘rovi, vaqt, qidiruv andozasi…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ounded Rectangle 15"/>
          <p:cNvSpPr/>
          <p:nvPr/>
        </p:nvSpPr>
        <p:spPr>
          <a:xfrm>
            <a:off x="411480" y="384048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Rectangle 16"/>
          <p:cNvSpPr/>
          <p:nvPr/>
        </p:nvSpPr>
        <p:spPr>
          <a:xfrm>
            <a:off x="411480" y="3840480"/>
            <a:ext cx="109440" cy="2468520"/>
          </a:xfrm>
          <a:prstGeom prst="rect">
            <a:avLst/>
          </a:prstGeom>
          <a:solidFill>
            <a:srgbClr val="be1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17"/>
          <p:cNvSpPr/>
          <p:nvPr/>
        </p:nvSpPr>
        <p:spPr>
          <a:xfrm>
            <a:off x="667440" y="4005000"/>
            <a:ext cx="327312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Keng ekotizim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Tashqi ombor (PyPI) orqali minglab paket: Django, FastAPI, Pandas, NumPy…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ounded Rectangle 18"/>
          <p:cNvSpPr/>
          <p:nvPr/>
        </p:nvSpPr>
        <p:spPr>
          <a:xfrm>
            <a:off x="4251960" y="384048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Rectangle 19"/>
          <p:cNvSpPr/>
          <p:nvPr/>
        </p:nvSpPr>
        <p:spPr>
          <a:xfrm>
            <a:off x="4251960" y="3840480"/>
            <a:ext cx="109440" cy="246852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20"/>
          <p:cNvSpPr/>
          <p:nvPr/>
        </p:nvSpPr>
        <p:spPr>
          <a:xfrm>
            <a:off x="4507920" y="4005000"/>
            <a:ext cx="327312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Tez ishlab chiqish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Kam ortiqcha shablon-kod (boilerplate) → prototip tez chiqadi.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ounded Rectangle 21"/>
          <p:cNvSpPr/>
          <p:nvPr/>
        </p:nvSpPr>
        <p:spPr>
          <a:xfrm>
            <a:off x="8092440" y="384048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Rectangle 22"/>
          <p:cNvSpPr/>
          <p:nvPr/>
        </p:nvSpPr>
        <p:spPr>
          <a:xfrm>
            <a:off x="8092440" y="3840480"/>
            <a:ext cx="109440" cy="2468520"/>
          </a:xfrm>
          <a:prstGeom prst="rect">
            <a:avLst/>
          </a:prstGeom>
          <a:solidFill>
            <a:srgbClr val="c241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23"/>
          <p:cNvSpPr/>
          <p:nvPr/>
        </p:nvSpPr>
        <p:spPr>
          <a:xfrm>
            <a:off x="8348400" y="4005000"/>
            <a:ext cx="3273120" cy="9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Ko‘chma (portable)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Bir xil kod turli tizimlarda ishlashi oson. Izolyatsiya muhiti (virtual environment) bilan boshqariladi.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Oval 1"/>
          <p:cNvSpPr/>
          <p:nvPr/>
        </p:nvSpPr>
        <p:spPr>
          <a:xfrm>
            <a:off x="10241280" y="-731520"/>
            <a:ext cx="2925720" cy="2925720"/>
          </a:xfrm>
          <a:prstGeom prst="ellipse">
            <a:avLst/>
          </a:prstGeom>
          <a:solidFill>
            <a:srgbClr val="e0f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Oval 2"/>
          <p:cNvSpPr/>
          <p:nvPr/>
        </p:nvSpPr>
        <p:spPr>
          <a:xfrm>
            <a:off x="-822960" y="4937760"/>
            <a:ext cx="2377080" cy="2377080"/>
          </a:xfrm>
          <a:prstGeom prst="ellipse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Rectangl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502920" y="255960"/>
            <a:ext cx="7772040" cy="6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0284c7"/>
                </a:solidFill>
                <a:latin typeface="Calibri"/>
                <a:ea typeface="Calibri"/>
              </a:rPr>
              <a:t>PYTHON · SOLISHTIRMA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0f172a"/>
                </a:solidFill>
                <a:latin typeface="Calibri"/>
                <a:ea typeface="Calibri"/>
              </a:rPr>
              <a:t>Boshqa tillarga nisbatan yutuqli tomonlari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502920" y="1143000"/>
            <a:ext cx="10972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Bu “boshqa tillar yomon” degani emas — Python qayerda yutadi, shu yerda aniq aytamiz.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ounded Rectangle 6"/>
          <p:cNvSpPr/>
          <p:nvPr/>
        </p:nvSpPr>
        <p:spPr>
          <a:xfrm>
            <a:off x="411480" y="1600200"/>
            <a:ext cx="55774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Rectangle 7"/>
          <p:cNvSpPr/>
          <p:nvPr/>
        </p:nvSpPr>
        <p:spPr>
          <a:xfrm>
            <a:off x="411480" y="1600200"/>
            <a:ext cx="109440" cy="21942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8"/>
          <p:cNvSpPr/>
          <p:nvPr/>
        </p:nvSpPr>
        <p:spPr>
          <a:xfrm>
            <a:off x="667440" y="1764720"/>
            <a:ext cx="519336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Java / C# ga nisbatan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Kamroq ortiqcha shablon-kod. Tip va klass e’lonlari kamroq. O‘rganish egri chizig‘i yumshoqroq. Veb va sun’iy intellekt prototipida tezroq.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ounded Rectangle 9"/>
          <p:cNvSpPr/>
          <p:nvPr/>
        </p:nvSpPr>
        <p:spPr>
          <a:xfrm>
            <a:off x="6217920" y="1600200"/>
            <a:ext cx="55774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Rectangle 10"/>
          <p:cNvSpPr/>
          <p:nvPr/>
        </p:nvSpPr>
        <p:spPr>
          <a:xfrm>
            <a:off x="6217920" y="1600200"/>
            <a:ext cx="109440" cy="2194200"/>
          </a:xfrm>
          <a:prstGeom prst="rect">
            <a:avLst/>
          </a:prstGeom>
          <a:solidFill>
            <a:srgbClr val="c241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11"/>
          <p:cNvSpPr/>
          <p:nvPr/>
        </p:nvSpPr>
        <p:spPr>
          <a:xfrm>
            <a:off x="6473880" y="1764720"/>
            <a:ext cx="519336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C / C++ ga nisbatan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Xotirani qo‘lda boshqarmaysiz. Ko‘rsatkich (pointer) xatolari kam. Sof tezlik pastroq bo‘lishi mumkin — ko‘p vazifa uchun yetarli.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ounded Rectangle 12"/>
          <p:cNvSpPr/>
          <p:nvPr/>
        </p:nvSpPr>
        <p:spPr>
          <a:xfrm>
            <a:off x="411480" y="3931920"/>
            <a:ext cx="55774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Rectangle 13"/>
          <p:cNvSpPr/>
          <p:nvPr/>
        </p:nvSpPr>
        <p:spPr>
          <a:xfrm>
            <a:off x="411480" y="3931920"/>
            <a:ext cx="109440" cy="2194200"/>
          </a:xfrm>
          <a:prstGeom prst="rect">
            <a:avLst/>
          </a:prstGeom>
          <a:solidFill>
            <a:srgbClr val="0478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14"/>
          <p:cNvSpPr/>
          <p:nvPr/>
        </p:nvSpPr>
        <p:spPr>
          <a:xfrm>
            <a:off x="667440" y="4096440"/>
            <a:ext cx="519336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JavaScript ga nisbatan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JS asosan brauzer + Node. Python esa sun’iy intellekt, ma’lumot tahlili, avtomatlashtirish, veb orqa qismida kengroq tanlov.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ounded Rectangle 15"/>
          <p:cNvSpPr/>
          <p:nvPr/>
        </p:nvSpPr>
        <p:spPr>
          <a:xfrm>
            <a:off x="6217920" y="3931920"/>
            <a:ext cx="5577480" cy="219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Rectangle 16"/>
          <p:cNvSpPr/>
          <p:nvPr/>
        </p:nvSpPr>
        <p:spPr>
          <a:xfrm>
            <a:off x="6217920" y="3931920"/>
            <a:ext cx="109440" cy="2194200"/>
          </a:xfrm>
          <a:prstGeom prst="rect">
            <a:avLst/>
          </a:prstGeom>
          <a:solidFill>
            <a:srgbClr val="be1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17"/>
          <p:cNvSpPr/>
          <p:nvPr/>
        </p:nvSpPr>
        <p:spPr>
          <a:xfrm>
            <a:off x="6473880" y="4096440"/>
            <a:ext cx="519336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Go / Rust ga nisbatan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Go/Rust tizim tezligi uchun kuchli. Python o‘qiluvchanlik, ekotizim va tez ishlab chiqishda yutadi.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Oval 1"/>
          <p:cNvSpPr/>
          <p:nvPr/>
        </p:nvSpPr>
        <p:spPr>
          <a:xfrm>
            <a:off x="10241280" y="-731520"/>
            <a:ext cx="2925720" cy="2925720"/>
          </a:xfrm>
          <a:prstGeom prst="ellipse">
            <a:avLst/>
          </a:prstGeom>
          <a:solidFill>
            <a:srgbClr val="e0f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Oval 2"/>
          <p:cNvSpPr/>
          <p:nvPr/>
        </p:nvSpPr>
        <p:spPr>
          <a:xfrm>
            <a:off x="-822960" y="4937760"/>
            <a:ext cx="2377080" cy="2377080"/>
          </a:xfrm>
          <a:prstGeom prst="ellipse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Rectangl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4"/>
          <p:cNvSpPr/>
          <p:nvPr/>
        </p:nvSpPr>
        <p:spPr>
          <a:xfrm>
            <a:off x="502920" y="255960"/>
            <a:ext cx="7772040" cy="6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0284c7"/>
                </a:solidFill>
                <a:latin typeface="Calibri"/>
                <a:ea typeface="Calibri"/>
              </a:rPr>
              <a:t>PYTHON · AMALIY SOLISHTIRMA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0f172a"/>
                </a:solidFill>
                <a:latin typeface="Calibri"/>
                <a:ea typeface="Calibri"/>
              </a:rPr>
              <a:t>Bir xil vazifa: juft sonlarni olish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5"/>
          <p:cNvSpPr/>
          <p:nvPr/>
        </p:nvSpPr>
        <p:spPr>
          <a:xfrm>
            <a:off x="502920" y="114300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334155"/>
                </a:solidFill>
                <a:latin typeface="Calibri"/>
                <a:ea typeface="Calibri"/>
              </a:rPr>
              <a:t>Yutuq shu yerda: kam qator, aniq ma’no, o‘qish oson.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ounded Rectangle 6"/>
          <p:cNvSpPr/>
          <p:nvPr/>
        </p:nvSpPr>
        <p:spPr>
          <a:xfrm>
            <a:off x="411480" y="1600200"/>
            <a:ext cx="5577480" cy="466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241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Rectangle 7"/>
          <p:cNvSpPr/>
          <p:nvPr/>
        </p:nvSpPr>
        <p:spPr>
          <a:xfrm>
            <a:off x="411480" y="1600200"/>
            <a:ext cx="5577480" cy="383760"/>
          </a:xfrm>
          <a:prstGeom prst="rect">
            <a:avLst/>
          </a:prstGeom>
          <a:solidFill>
            <a:srgbClr val="c241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8"/>
          <p:cNvSpPr/>
          <p:nvPr/>
        </p:nvSpPr>
        <p:spPr>
          <a:xfrm>
            <a:off x="594360" y="1645920"/>
            <a:ext cx="5303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Java (uzunroq)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9"/>
          <p:cNvSpPr/>
          <p:nvPr/>
        </p:nvSpPr>
        <p:spPr>
          <a:xfrm>
            <a:off x="640080" y="2103120"/>
            <a:ext cx="5211720" cy="185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List&lt;Integer&gt; nums = Arrays.asList(1,2,3,4,5);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List&lt;Integer&gt; evens = new ArrayList&lt;&gt;();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for (Integer n : nums)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if (n % 2 == 0)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        </a:t>
            </a: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evens.add(n);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System.out.println(evens);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ounded Rectangle 10"/>
          <p:cNvSpPr/>
          <p:nvPr/>
        </p:nvSpPr>
        <p:spPr>
          <a:xfrm>
            <a:off x="6217920" y="1600200"/>
            <a:ext cx="5440320" cy="466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284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Rectangle 11"/>
          <p:cNvSpPr/>
          <p:nvPr/>
        </p:nvSpPr>
        <p:spPr>
          <a:xfrm>
            <a:off x="6217920" y="1600200"/>
            <a:ext cx="5440320" cy="38376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12"/>
          <p:cNvSpPr/>
          <p:nvPr/>
        </p:nvSpPr>
        <p:spPr>
          <a:xfrm>
            <a:off x="6400800" y="1645920"/>
            <a:ext cx="51660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Python (qisqa + aniq)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13"/>
          <p:cNvSpPr/>
          <p:nvPr/>
        </p:nvSpPr>
        <p:spPr>
          <a:xfrm>
            <a:off x="6446520" y="2103120"/>
            <a:ext cx="5074560" cy="185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nums = [1, 2, 3, 4, 5]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evens = [n for n in nums if n % 2 == 0]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print(evens)  # [2, 4]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47857"/>
                </a:solidFill>
                <a:latin typeface="Consolas"/>
                <a:ea typeface="Consolas"/>
              </a:rPr>
              <a:t># Xulosa: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47857"/>
                </a:solidFill>
                <a:latin typeface="Consolas"/>
                <a:ea typeface="Consolas"/>
              </a:rPr>
              <a:t># bir xil natija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47857"/>
                </a:solidFill>
                <a:latin typeface="Consolas"/>
                <a:ea typeface="Consolas"/>
              </a:rPr>
              <a:t># kamroq kod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47857"/>
                </a:solidFill>
                <a:latin typeface="Consolas"/>
                <a:ea typeface="Consolas"/>
              </a:rPr>
              <a:t># o‘qish osonroq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Oval 1"/>
          <p:cNvSpPr/>
          <p:nvPr/>
        </p:nvSpPr>
        <p:spPr>
          <a:xfrm>
            <a:off x="10241280" y="-731520"/>
            <a:ext cx="2925720" cy="2925720"/>
          </a:xfrm>
          <a:prstGeom prst="ellipse">
            <a:avLst/>
          </a:prstGeom>
          <a:solidFill>
            <a:srgbClr val="e0f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Oval 2"/>
          <p:cNvSpPr/>
          <p:nvPr/>
        </p:nvSpPr>
        <p:spPr>
          <a:xfrm>
            <a:off x="-822960" y="4937760"/>
            <a:ext cx="2377080" cy="2377080"/>
          </a:xfrm>
          <a:prstGeom prst="ellipse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Rectangl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502920" y="255960"/>
            <a:ext cx="7772040" cy="6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0284c7"/>
                </a:solidFill>
                <a:latin typeface="Calibri"/>
                <a:ea typeface="Calibri"/>
              </a:rPr>
              <a:t>PYTHON · TIP TIZIMI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0f172a"/>
                </a:solidFill>
                <a:latin typeface="Calibri"/>
                <a:ea typeface="Calibri"/>
              </a:rPr>
              <a:t>Tipni kim aniqlaydi?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ounded Rectangle 5"/>
          <p:cNvSpPr/>
          <p:nvPr/>
        </p:nvSpPr>
        <p:spPr>
          <a:xfrm>
            <a:off x="411480" y="1234440"/>
            <a:ext cx="557748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Rectangle 6"/>
          <p:cNvSpPr/>
          <p:nvPr/>
        </p:nvSpPr>
        <p:spPr>
          <a:xfrm>
            <a:off x="411480" y="1234440"/>
            <a:ext cx="109440" cy="1919880"/>
          </a:xfrm>
          <a:prstGeom prst="rect">
            <a:avLst/>
          </a:prstGeom>
          <a:solidFill>
            <a:srgbClr val="c241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7"/>
          <p:cNvSpPr/>
          <p:nvPr/>
        </p:nvSpPr>
        <p:spPr>
          <a:xfrm>
            <a:off x="667440" y="1398960"/>
            <a:ext cx="5193360" cy="86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Ko‘p tillarda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O‘zgaruvchi ochilganda tip yoziladi: butun son (int), matn (String)…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Tekshiruv oldindan bo‘ladi. Aniqlik yuqori, yozish uzunroq.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ounded Rectangle 8"/>
          <p:cNvSpPr/>
          <p:nvPr/>
        </p:nvSpPr>
        <p:spPr>
          <a:xfrm>
            <a:off x="6217920" y="1234440"/>
            <a:ext cx="5440320" cy="1919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ectangle 9"/>
          <p:cNvSpPr/>
          <p:nvPr/>
        </p:nvSpPr>
        <p:spPr>
          <a:xfrm>
            <a:off x="6217920" y="1234440"/>
            <a:ext cx="109440" cy="191988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10"/>
          <p:cNvSpPr/>
          <p:nvPr/>
        </p:nvSpPr>
        <p:spPr>
          <a:xfrm>
            <a:off x="6473880" y="1398960"/>
            <a:ext cx="505620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Python da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Tip majburiy yozilmaydi — qiymatga qarab aniqlanadi.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Tez yozish. Katta loyihada tip ko‘rsatmasi (type hint) qo‘shish mumkin.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ounded Rectangle 11"/>
          <p:cNvSpPr/>
          <p:nvPr/>
        </p:nvSpPr>
        <p:spPr>
          <a:xfrm>
            <a:off x="411480" y="3337560"/>
            <a:ext cx="5577480" cy="297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241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Rectangle 12"/>
          <p:cNvSpPr/>
          <p:nvPr/>
        </p:nvSpPr>
        <p:spPr>
          <a:xfrm>
            <a:off x="411480" y="3337560"/>
            <a:ext cx="5577480" cy="383760"/>
          </a:xfrm>
          <a:prstGeom prst="rect">
            <a:avLst/>
          </a:prstGeom>
          <a:solidFill>
            <a:srgbClr val="c241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TextBox 13"/>
          <p:cNvSpPr/>
          <p:nvPr/>
        </p:nvSpPr>
        <p:spPr>
          <a:xfrm>
            <a:off x="594360" y="3383280"/>
            <a:ext cx="5303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Java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14"/>
          <p:cNvSpPr/>
          <p:nvPr/>
        </p:nvSpPr>
        <p:spPr>
          <a:xfrm>
            <a:off x="640080" y="3840480"/>
            <a:ext cx="5211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int yosh = 18;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String ism = "Ali";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double narx = 12.5;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boolean aktiv = true;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ounded Rectangle 15"/>
          <p:cNvSpPr/>
          <p:nvPr/>
        </p:nvSpPr>
        <p:spPr>
          <a:xfrm>
            <a:off x="6217920" y="3337560"/>
            <a:ext cx="5440320" cy="2971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284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Rectangle 16"/>
          <p:cNvSpPr/>
          <p:nvPr/>
        </p:nvSpPr>
        <p:spPr>
          <a:xfrm>
            <a:off x="6217920" y="3337560"/>
            <a:ext cx="5440320" cy="38376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17"/>
          <p:cNvSpPr/>
          <p:nvPr/>
        </p:nvSpPr>
        <p:spPr>
          <a:xfrm>
            <a:off x="6400800" y="3383280"/>
            <a:ext cx="51660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Python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18"/>
          <p:cNvSpPr/>
          <p:nvPr/>
        </p:nvSpPr>
        <p:spPr>
          <a:xfrm>
            <a:off x="6446520" y="3840480"/>
            <a:ext cx="5074560" cy="11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yosh = 18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ism = "Ali"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narx = 12.5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aktiv = True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47857"/>
                </a:solidFill>
                <a:latin typeface="Consolas"/>
                <a:ea typeface="Consolas"/>
              </a:rPr>
              <a:t># tipni Python o‘zi biladi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Oval 1"/>
          <p:cNvSpPr/>
          <p:nvPr/>
        </p:nvSpPr>
        <p:spPr>
          <a:xfrm>
            <a:off x="10241280" y="-731520"/>
            <a:ext cx="2925720" cy="2925720"/>
          </a:xfrm>
          <a:prstGeom prst="ellipse">
            <a:avLst/>
          </a:prstGeom>
          <a:solidFill>
            <a:srgbClr val="e0f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Oval 2"/>
          <p:cNvSpPr/>
          <p:nvPr/>
        </p:nvSpPr>
        <p:spPr>
          <a:xfrm>
            <a:off x="-822960" y="4937760"/>
            <a:ext cx="2377080" cy="2377080"/>
          </a:xfrm>
          <a:prstGeom prst="ellipse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Rectangl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4"/>
          <p:cNvSpPr/>
          <p:nvPr/>
        </p:nvSpPr>
        <p:spPr>
          <a:xfrm>
            <a:off x="502920" y="255960"/>
            <a:ext cx="7772040" cy="6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0284c7"/>
                </a:solidFill>
                <a:latin typeface="Calibri"/>
                <a:ea typeface="Calibri"/>
              </a:rPr>
              <a:t>PYTHON · AMALIY ASOSLAR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0f172a"/>
                </a:solidFill>
                <a:latin typeface="Calibri"/>
                <a:ea typeface="Calibri"/>
              </a:rPr>
              <a:t>Ro‘yxat, lug‘at, funksiya — kundalik vositalar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ounded Rectangle 5"/>
          <p:cNvSpPr/>
          <p:nvPr/>
        </p:nvSpPr>
        <p:spPr>
          <a:xfrm>
            <a:off x="411480" y="1234440"/>
            <a:ext cx="5577480" cy="5028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284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Rectangle 6"/>
          <p:cNvSpPr/>
          <p:nvPr/>
        </p:nvSpPr>
        <p:spPr>
          <a:xfrm>
            <a:off x="411480" y="1234440"/>
            <a:ext cx="5577480" cy="38376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7"/>
          <p:cNvSpPr/>
          <p:nvPr/>
        </p:nvSpPr>
        <p:spPr>
          <a:xfrm>
            <a:off x="594360" y="1280160"/>
            <a:ext cx="5303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Ma’lumot tuzilmalari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8"/>
          <p:cNvSpPr/>
          <p:nvPr/>
        </p:nvSpPr>
        <p:spPr>
          <a:xfrm>
            <a:off x="640080" y="1737360"/>
            <a:ext cx="521172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talaba = {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  </a:t>
            </a: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"ism": "Ali",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  </a:t>
            </a: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"ball": 95,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}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print(talaba["ism"])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fanlar = ["Python", "Django"]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fanlar.append("REST")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47857"/>
                </a:solidFill>
                <a:latin typeface="Consolas"/>
                <a:ea typeface="Consolas"/>
              </a:rPr>
              <a:t># lug‘at (dict) = kalit→qiymat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47857"/>
                </a:solidFill>
                <a:latin typeface="Consolas"/>
                <a:ea typeface="Consolas"/>
              </a:rPr>
              <a:t># ro‘yxat (list) = tartibli to‘plam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ounded Rectangle 9"/>
          <p:cNvSpPr/>
          <p:nvPr/>
        </p:nvSpPr>
        <p:spPr>
          <a:xfrm>
            <a:off x="6217920" y="1234440"/>
            <a:ext cx="5440320" cy="5028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478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Rectangle 10"/>
          <p:cNvSpPr/>
          <p:nvPr/>
        </p:nvSpPr>
        <p:spPr>
          <a:xfrm>
            <a:off x="6217920" y="1234440"/>
            <a:ext cx="5440320" cy="383760"/>
          </a:xfrm>
          <a:prstGeom prst="rect">
            <a:avLst/>
          </a:prstGeom>
          <a:solidFill>
            <a:srgbClr val="0478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11"/>
          <p:cNvSpPr/>
          <p:nvPr/>
        </p:nvSpPr>
        <p:spPr>
          <a:xfrm>
            <a:off x="6400800" y="1280160"/>
            <a:ext cx="51660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Funksiya (function)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12"/>
          <p:cNvSpPr/>
          <p:nvPr/>
        </p:nvSpPr>
        <p:spPr>
          <a:xfrm>
            <a:off x="6446520" y="1737360"/>
            <a:ext cx="507456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def yigindi(a, b):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return a + 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print(yigindi(2, 3))  # 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def salom(ism="mehmon"):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return f"Salom, {ism}"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b1220"/>
                </a:solidFill>
                <a:latin typeface="Consolas"/>
                <a:ea typeface="Consolas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47857"/>
                </a:solidFill>
                <a:latin typeface="Consolas"/>
                <a:ea typeface="Consolas"/>
              </a:rPr>
              <a:t># Funksiya = takrorlanadigan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047857"/>
                </a:solidFill>
                <a:latin typeface="Consolas"/>
                <a:ea typeface="Consolas"/>
              </a:rPr>
              <a:t># mantiqni bitta joyga yig‘ish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Oval 1"/>
          <p:cNvSpPr/>
          <p:nvPr/>
        </p:nvSpPr>
        <p:spPr>
          <a:xfrm>
            <a:off x="10241280" y="-731520"/>
            <a:ext cx="2925720" cy="2925720"/>
          </a:xfrm>
          <a:prstGeom prst="ellipse">
            <a:avLst/>
          </a:prstGeom>
          <a:solidFill>
            <a:srgbClr val="e0f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Oval 2"/>
          <p:cNvSpPr/>
          <p:nvPr/>
        </p:nvSpPr>
        <p:spPr>
          <a:xfrm>
            <a:off x="-822960" y="4937760"/>
            <a:ext cx="2377080" cy="2377080"/>
          </a:xfrm>
          <a:prstGeom prst="ellipse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Rectangl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80" name="Picture 4" descr="hero-youth-coding.jpg"/>
          <p:cNvPicPr/>
          <p:nvPr/>
        </p:nvPicPr>
        <p:blipFill>
          <a:blip r:embed="rId1"/>
          <a:stretch/>
        </p:blipFill>
        <p:spPr>
          <a:xfrm>
            <a:off x="8595360" y="182880"/>
            <a:ext cx="3291480" cy="959760"/>
          </a:xfrm>
          <a:prstGeom prst="rect">
            <a:avLst/>
          </a:prstGeom>
          <a:ln w="0">
            <a:noFill/>
          </a:ln>
        </p:spPr>
      </p:pic>
      <p:sp>
        <p:nvSpPr>
          <p:cNvPr id="181" name="TextBox 5"/>
          <p:cNvSpPr/>
          <p:nvPr/>
        </p:nvSpPr>
        <p:spPr>
          <a:xfrm>
            <a:off x="502920" y="255960"/>
            <a:ext cx="7772040" cy="6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0284c7"/>
                </a:solidFill>
                <a:latin typeface="Calibri"/>
                <a:ea typeface="Calibri"/>
              </a:rPr>
              <a:t>PYTHON · QAYERDA ISHLATILADI?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0f172a"/>
                </a:solidFill>
                <a:latin typeface="Calibri"/>
                <a:ea typeface="Calibri"/>
              </a:rPr>
              <a:t>Bitta til — bir necha yo‘nalish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ounded Rectangle 6"/>
          <p:cNvSpPr/>
          <p:nvPr/>
        </p:nvSpPr>
        <p:spPr>
          <a:xfrm>
            <a:off x="411480" y="123444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Rectangle 7"/>
          <p:cNvSpPr/>
          <p:nvPr/>
        </p:nvSpPr>
        <p:spPr>
          <a:xfrm>
            <a:off x="411480" y="1234440"/>
            <a:ext cx="109440" cy="246852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8"/>
          <p:cNvSpPr/>
          <p:nvPr/>
        </p:nvSpPr>
        <p:spPr>
          <a:xfrm>
            <a:off x="667440" y="1398960"/>
            <a:ext cx="3273120" cy="86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Veb orqa qismi (backend)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Django, Flask, FastAPI.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Sayt va dasturiy interfeys (API).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ounded Rectangle 9"/>
          <p:cNvSpPr/>
          <p:nvPr/>
        </p:nvSpPr>
        <p:spPr>
          <a:xfrm>
            <a:off x="4251960" y="123444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Rectangle 10"/>
          <p:cNvSpPr/>
          <p:nvPr/>
        </p:nvSpPr>
        <p:spPr>
          <a:xfrm>
            <a:off x="4251960" y="1234440"/>
            <a:ext cx="109440" cy="2468520"/>
          </a:xfrm>
          <a:prstGeom prst="rect">
            <a:avLst/>
          </a:prstGeom>
          <a:solidFill>
            <a:srgbClr val="c241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TextBox 11"/>
          <p:cNvSpPr/>
          <p:nvPr/>
        </p:nvSpPr>
        <p:spPr>
          <a:xfrm>
            <a:off x="4507920" y="1398960"/>
            <a:ext cx="3273120" cy="86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Ma’lumot tahlili (data)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Pandas, NumPy.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Jadvallar ustida kuchli tahlil.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ounded Rectangle 12"/>
          <p:cNvSpPr/>
          <p:nvPr/>
        </p:nvSpPr>
        <p:spPr>
          <a:xfrm>
            <a:off x="8092440" y="123444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Rectangle 13"/>
          <p:cNvSpPr/>
          <p:nvPr/>
        </p:nvSpPr>
        <p:spPr>
          <a:xfrm>
            <a:off x="8092440" y="1234440"/>
            <a:ext cx="109440" cy="2468520"/>
          </a:xfrm>
          <a:prstGeom prst="rect">
            <a:avLst/>
          </a:prstGeom>
          <a:solidFill>
            <a:srgbClr val="0478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14"/>
          <p:cNvSpPr/>
          <p:nvPr/>
        </p:nvSpPr>
        <p:spPr>
          <a:xfrm>
            <a:off x="8348400" y="1398960"/>
            <a:ext cx="3273120" cy="86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Sun’iy intellekt (AI / ML)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PyTorch, TensorFlow.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Model o‘qitish va bashorat.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ounded Rectangle 15"/>
          <p:cNvSpPr/>
          <p:nvPr/>
        </p:nvSpPr>
        <p:spPr>
          <a:xfrm>
            <a:off x="411480" y="384048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Rectangle 16"/>
          <p:cNvSpPr/>
          <p:nvPr/>
        </p:nvSpPr>
        <p:spPr>
          <a:xfrm>
            <a:off x="411480" y="3840480"/>
            <a:ext cx="109440" cy="2468520"/>
          </a:xfrm>
          <a:prstGeom prst="rect">
            <a:avLst/>
          </a:prstGeom>
          <a:solidFill>
            <a:srgbClr val="be1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17"/>
          <p:cNvSpPr/>
          <p:nvPr/>
        </p:nvSpPr>
        <p:spPr>
          <a:xfrm>
            <a:off x="667440" y="4005000"/>
            <a:ext cx="327312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Avtomatlashtirish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Fayl, jadval, pochta, saytdan ma’lumot olish (scraping).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Rounded Rectangle 18"/>
          <p:cNvSpPr/>
          <p:nvPr/>
        </p:nvSpPr>
        <p:spPr>
          <a:xfrm>
            <a:off x="4251960" y="384048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Rectangle 19"/>
          <p:cNvSpPr/>
          <p:nvPr/>
        </p:nvSpPr>
        <p:spPr>
          <a:xfrm>
            <a:off x="4251960" y="3840480"/>
            <a:ext cx="109440" cy="246852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20"/>
          <p:cNvSpPr/>
          <p:nvPr/>
        </p:nvSpPr>
        <p:spPr>
          <a:xfrm>
            <a:off x="4507920" y="4005000"/>
            <a:ext cx="3273120" cy="86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Ilmiy hisob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SciPy, Matplotlib.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Grafik va matematik modellar.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ounded Rectangle 21"/>
          <p:cNvSpPr/>
          <p:nvPr/>
        </p:nvSpPr>
        <p:spPr>
          <a:xfrm>
            <a:off x="8092440" y="384048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Rectangle 22"/>
          <p:cNvSpPr/>
          <p:nvPr/>
        </p:nvSpPr>
        <p:spPr>
          <a:xfrm>
            <a:off x="8092440" y="3840480"/>
            <a:ext cx="109440" cy="2468520"/>
          </a:xfrm>
          <a:prstGeom prst="rect">
            <a:avLst/>
          </a:prstGeom>
          <a:solidFill>
            <a:srgbClr val="c241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TextBox 23"/>
          <p:cNvSpPr/>
          <p:nvPr/>
        </p:nvSpPr>
        <p:spPr>
          <a:xfrm>
            <a:off x="8348400" y="4005000"/>
            <a:ext cx="327312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Skript / DevOps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Server skriptlari, yordamchi vositalar, tarmoq so‘rovlari.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Oval 1"/>
          <p:cNvSpPr/>
          <p:nvPr/>
        </p:nvSpPr>
        <p:spPr>
          <a:xfrm>
            <a:off x="10058400" y="-914400"/>
            <a:ext cx="3108600" cy="3108600"/>
          </a:xfrm>
          <a:prstGeom prst="ellipse">
            <a:avLst/>
          </a:prstGeom>
          <a:solidFill>
            <a:srgbClr val="fee2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Oval 2"/>
          <p:cNvSpPr/>
          <p:nvPr/>
        </p:nvSpPr>
        <p:spPr>
          <a:xfrm>
            <a:off x="-914400" y="4754880"/>
            <a:ext cx="2559960" cy="2559960"/>
          </a:xfrm>
          <a:prstGeom prst="ellipse">
            <a:avLst/>
          </a:prstGeom>
          <a:solidFill>
            <a:srgbClr val="fef3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Rectangl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be1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Rectangle 4"/>
          <p:cNvSpPr/>
          <p:nvPr/>
        </p:nvSpPr>
        <p:spPr>
          <a:xfrm>
            <a:off x="7635240" y="0"/>
            <a:ext cx="457164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4" name="Picture 5" descr="panel-web.jpg"/>
          <p:cNvPicPr/>
          <p:nvPr/>
        </p:nvPicPr>
        <p:blipFill>
          <a:blip r:embed="rId1"/>
          <a:stretch/>
        </p:blipFill>
        <p:spPr>
          <a:xfrm>
            <a:off x="7635240" y="0"/>
            <a:ext cx="4571640" cy="6857640"/>
          </a:xfrm>
          <a:prstGeom prst="rect">
            <a:avLst/>
          </a:prstGeom>
          <a:ln w="0">
            <a:noFill/>
          </a:ln>
        </p:spPr>
      </p:pic>
      <p:sp>
        <p:nvSpPr>
          <p:cNvPr id="205" name="TextBox 6"/>
          <p:cNvSpPr/>
          <p:nvPr/>
        </p:nvSpPr>
        <p:spPr>
          <a:xfrm>
            <a:off x="502920" y="255960"/>
            <a:ext cx="7772040" cy="6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0284c7"/>
                </a:solidFill>
                <a:latin typeface="Calibri"/>
                <a:ea typeface="Calibri"/>
              </a:rPr>
              <a:t>MUAMMO 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0f172a"/>
                </a:solidFill>
                <a:latin typeface="Calibri"/>
                <a:ea typeface="Calibri"/>
              </a:rPr>
              <a:t>Python o‘zi — lekin veb kerak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ounded Rectangle 7"/>
          <p:cNvSpPr/>
          <p:nvPr/>
        </p:nvSpPr>
        <p:spPr>
          <a:xfrm>
            <a:off x="457200" y="1280160"/>
            <a:ext cx="6857640" cy="493740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5875">
            <a:solidFill>
              <a:srgbClr val="be1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TextBox 8"/>
          <p:cNvSpPr/>
          <p:nvPr/>
        </p:nvSpPr>
        <p:spPr>
          <a:xfrm>
            <a:off x="731520" y="1554480"/>
            <a:ext cx="6400440" cy="28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400" spc="-1" strike="noStrike">
                <a:solidFill>
                  <a:srgbClr val="be123c"/>
                </a:solidFill>
                <a:latin typeface="Calibri"/>
                <a:ea typeface="Calibri"/>
              </a:rPr>
              <a:t>MUAMMO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700" spc="-1" strike="noStrike">
                <a:solidFill>
                  <a:srgbClr val="0f172a"/>
                </a:solidFill>
                <a:latin typeface="Calibri"/>
                <a:ea typeface="Calibri"/>
              </a:rPr>
              <a:t>Python da skript yozishni o‘rgandik. Lekin real mahsulot ko‘pincha brauzerda: sayt, kabinet, boshqaruv paneli, forma…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400" spc="-1" strike="noStrike">
                <a:solidFill>
                  <a:srgbClr val="334155"/>
                </a:solidFill>
                <a:latin typeface="Calibri"/>
                <a:ea typeface="Calibri"/>
              </a:rPr>
              <a:t>Savol: faqat print() bilan to‘liq veb-tizim bo‘ladimi?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0" lang="en-US" sz="1400" spc="-1" strike="noStrike">
                <a:solidFill>
                  <a:srgbClr val="334155"/>
                </a:solidFill>
                <a:latin typeface="Calibri"/>
                <a:ea typeface="Calibri"/>
              </a:rPr>
              <a:t>Manzil yo‘naltirish (URL routing), ma’lumotlar bazasi, kirish (login), xavfsizlik, sahifa andozasi — bularni noldan yig‘ish og‘ir.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500" spc="-1" strike="noStrike">
                <a:solidFill>
                  <a:srgbClr val="c2410c"/>
                </a:solidFill>
                <a:latin typeface="Calibri"/>
                <a:ea typeface="Calibri"/>
              </a:rPr>
              <a:t>Shuning uchun boshlang‘ich veb uchun dasturiy asos (framework) tanlaymiz.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Oval 1"/>
          <p:cNvSpPr/>
          <p:nvPr/>
        </p:nvSpPr>
        <p:spPr>
          <a:xfrm>
            <a:off x="10149840" y="-822960"/>
            <a:ext cx="3017160" cy="3017160"/>
          </a:xfrm>
          <a:prstGeom prst="ellipse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Oval 2"/>
          <p:cNvSpPr/>
          <p:nvPr/>
        </p:nvSpPr>
        <p:spPr>
          <a:xfrm>
            <a:off x="-731520" y="4846320"/>
            <a:ext cx="2285640" cy="2285640"/>
          </a:xfrm>
          <a:prstGeom prst="ellipse">
            <a:avLst/>
          </a:prstGeom>
          <a:solidFill>
            <a:srgbClr val="e0f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Rectangl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478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11" name="Picture 4" descr="web-django.jpg"/>
          <p:cNvPicPr/>
          <p:nvPr/>
        </p:nvPicPr>
        <p:blipFill>
          <a:blip r:embed="rId1"/>
          <a:stretch/>
        </p:blipFill>
        <p:spPr>
          <a:xfrm>
            <a:off x="8595360" y="182880"/>
            <a:ext cx="3291480" cy="959760"/>
          </a:xfrm>
          <a:prstGeom prst="rect">
            <a:avLst/>
          </a:prstGeom>
          <a:ln w="0">
            <a:noFill/>
          </a:ln>
        </p:spPr>
      </p:pic>
      <p:sp>
        <p:nvSpPr>
          <p:cNvPr id="212" name="TextBox 5"/>
          <p:cNvSpPr/>
          <p:nvPr/>
        </p:nvSpPr>
        <p:spPr>
          <a:xfrm>
            <a:off x="502920" y="255960"/>
            <a:ext cx="7772040" cy="6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0284c7"/>
                </a:solidFill>
                <a:latin typeface="Calibri"/>
                <a:ea typeface="Calibri"/>
              </a:rPr>
              <a:t>YECHIM 1 · DJANGO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0f172a"/>
                </a:solidFill>
                <a:latin typeface="Calibri"/>
                <a:ea typeface="Calibri"/>
              </a:rPr>
              <a:t>Boshlang‘ich veb uchun asosiy tavsiya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ounded Rectangle 6"/>
          <p:cNvSpPr/>
          <p:nvPr/>
        </p:nvSpPr>
        <p:spPr>
          <a:xfrm>
            <a:off x="411480" y="1188720"/>
            <a:ext cx="11338200" cy="123408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5875">
            <a:solidFill>
              <a:srgbClr val="0478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7"/>
          <p:cNvSpPr/>
          <p:nvPr/>
        </p:nvSpPr>
        <p:spPr>
          <a:xfrm>
            <a:off x="685800" y="1371600"/>
            <a:ext cx="1088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Django — Python dagi to‘liq veb dasturiy asosi (full-stack framework).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Ichida tayyor: kirish tizimi, boshqaruv paneli, ORM, sahifa andozasi, xavfsizlik.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ounded Rectangle 8"/>
          <p:cNvSpPr/>
          <p:nvPr/>
        </p:nvSpPr>
        <p:spPr>
          <a:xfrm>
            <a:off x="411480" y="2697480"/>
            <a:ext cx="3657240" cy="34743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Rectangle 9"/>
          <p:cNvSpPr/>
          <p:nvPr/>
        </p:nvSpPr>
        <p:spPr>
          <a:xfrm>
            <a:off x="411480" y="2697480"/>
            <a:ext cx="109440" cy="3474360"/>
          </a:xfrm>
          <a:prstGeom prst="rect">
            <a:avLst/>
          </a:prstGeom>
          <a:solidFill>
            <a:srgbClr val="0478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10"/>
          <p:cNvSpPr/>
          <p:nvPr/>
        </p:nvSpPr>
        <p:spPr>
          <a:xfrm>
            <a:off x="667440" y="2862000"/>
            <a:ext cx="3273120" cy="9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Nima uchun Django?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Boshlang‘ich uchun yo‘l aniq: loyiha/ilova (Project/App), manzil (URL), boshqaruvchi (View), model, andoza (Template).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Rounded Rectangle 11"/>
          <p:cNvSpPr/>
          <p:nvPr/>
        </p:nvSpPr>
        <p:spPr>
          <a:xfrm>
            <a:off x="4251960" y="2697480"/>
            <a:ext cx="3657240" cy="34743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Rectangle 12"/>
          <p:cNvSpPr/>
          <p:nvPr/>
        </p:nvSpPr>
        <p:spPr>
          <a:xfrm>
            <a:off x="4251960" y="2697480"/>
            <a:ext cx="109440" cy="347436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13"/>
          <p:cNvSpPr/>
          <p:nvPr/>
        </p:nvSpPr>
        <p:spPr>
          <a:xfrm>
            <a:off x="4507920" y="2862000"/>
            <a:ext cx="3273120" cy="9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Nima beradi?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Kirish/ro‘yxat, admin panel, baza bilan ORM, HTML sahifalar, himoya vositalari (CSRF va boshqalar).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ounded Rectangle 14"/>
          <p:cNvSpPr/>
          <p:nvPr/>
        </p:nvSpPr>
        <p:spPr>
          <a:xfrm>
            <a:off x="8092440" y="2697480"/>
            <a:ext cx="3657240" cy="34743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Rectangle 15"/>
          <p:cNvSpPr/>
          <p:nvPr/>
        </p:nvSpPr>
        <p:spPr>
          <a:xfrm>
            <a:off x="8092440" y="2697480"/>
            <a:ext cx="109440" cy="3474360"/>
          </a:xfrm>
          <a:prstGeom prst="rect">
            <a:avLst/>
          </a:prstGeom>
          <a:solidFill>
            <a:srgbClr val="c241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TextBox 16"/>
          <p:cNvSpPr/>
          <p:nvPr/>
        </p:nvSpPr>
        <p:spPr>
          <a:xfrm>
            <a:off x="8348400" y="2862000"/>
            <a:ext cx="3273120" cy="9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Qanday o‘rganamiz?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Avval so‘rov qanday yurishini tushunamiz. Keyin kichik sayt. Keyin dasturiy interfeys (API).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Oval 1"/>
          <p:cNvSpPr/>
          <p:nvPr/>
        </p:nvSpPr>
        <p:spPr>
          <a:xfrm>
            <a:off x="10241280" y="-731520"/>
            <a:ext cx="2925720" cy="2925720"/>
          </a:xfrm>
          <a:prstGeom prst="ellipse">
            <a:avLst/>
          </a:prstGeom>
          <a:solidFill>
            <a:srgbClr val="e0f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Oval 2"/>
          <p:cNvSpPr/>
          <p:nvPr/>
        </p:nvSpPr>
        <p:spPr>
          <a:xfrm>
            <a:off x="-822960" y="4937760"/>
            <a:ext cx="2377080" cy="2377080"/>
          </a:xfrm>
          <a:prstGeom prst="ellipse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Rectangl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TextBox 4"/>
          <p:cNvSpPr/>
          <p:nvPr/>
        </p:nvSpPr>
        <p:spPr>
          <a:xfrm>
            <a:off x="502920" y="255960"/>
            <a:ext cx="7772040" cy="6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0284c7"/>
                </a:solidFill>
                <a:latin typeface="Calibri"/>
                <a:ea typeface="Calibri"/>
              </a:rPr>
              <a:t>DJANGO · QANDAY ISHLAYDI?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0f172a"/>
                </a:solidFill>
                <a:latin typeface="Calibri"/>
                <a:ea typeface="Calibri"/>
              </a:rPr>
              <a:t>Bitta so‘rovning (request) ketma-ketligi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Rounded Rectangle 5"/>
          <p:cNvSpPr/>
          <p:nvPr/>
        </p:nvSpPr>
        <p:spPr>
          <a:xfrm>
            <a:off x="411480" y="123444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Rectangle 6"/>
          <p:cNvSpPr/>
          <p:nvPr/>
        </p:nvSpPr>
        <p:spPr>
          <a:xfrm>
            <a:off x="411480" y="1234440"/>
            <a:ext cx="109440" cy="246852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TextBox 7"/>
          <p:cNvSpPr/>
          <p:nvPr/>
        </p:nvSpPr>
        <p:spPr>
          <a:xfrm>
            <a:off x="667440" y="1398960"/>
            <a:ext cx="3273120" cy="86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1. So‘rov (request)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Brauzer manzil ochadi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yoki forma yuboradi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ounded Rectangle 8"/>
          <p:cNvSpPr/>
          <p:nvPr/>
        </p:nvSpPr>
        <p:spPr>
          <a:xfrm>
            <a:off x="4251960" y="123444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Rectangle 9"/>
          <p:cNvSpPr/>
          <p:nvPr/>
        </p:nvSpPr>
        <p:spPr>
          <a:xfrm>
            <a:off x="4251960" y="1234440"/>
            <a:ext cx="109440" cy="2468520"/>
          </a:xfrm>
          <a:prstGeom prst="rect">
            <a:avLst/>
          </a:prstGeom>
          <a:solidFill>
            <a:srgbClr val="c241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10"/>
          <p:cNvSpPr/>
          <p:nvPr/>
        </p:nvSpPr>
        <p:spPr>
          <a:xfrm>
            <a:off x="4507920" y="1398960"/>
            <a:ext cx="3273120" cy="86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2. Manzil (URL)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Django to‘g‘ri yo‘lni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topadi (urls.py)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Rounded Rectangle 11"/>
          <p:cNvSpPr/>
          <p:nvPr/>
        </p:nvSpPr>
        <p:spPr>
          <a:xfrm>
            <a:off x="8092440" y="123444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Rectangle 12"/>
          <p:cNvSpPr/>
          <p:nvPr/>
        </p:nvSpPr>
        <p:spPr>
          <a:xfrm>
            <a:off x="8092440" y="1234440"/>
            <a:ext cx="109440" cy="2468520"/>
          </a:xfrm>
          <a:prstGeom prst="rect">
            <a:avLst/>
          </a:prstGeom>
          <a:solidFill>
            <a:srgbClr val="0478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13"/>
          <p:cNvSpPr/>
          <p:nvPr/>
        </p:nvSpPr>
        <p:spPr>
          <a:xfrm>
            <a:off x="8348400" y="1398960"/>
            <a:ext cx="3273120" cy="86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3. Boshqaruvchi (View)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Mantiq ishlaydi: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tekshiruv, hisob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Rounded Rectangle 14"/>
          <p:cNvSpPr/>
          <p:nvPr/>
        </p:nvSpPr>
        <p:spPr>
          <a:xfrm>
            <a:off x="411480" y="384048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Rectangle 15"/>
          <p:cNvSpPr/>
          <p:nvPr/>
        </p:nvSpPr>
        <p:spPr>
          <a:xfrm>
            <a:off x="411480" y="3840480"/>
            <a:ext cx="109440" cy="2468520"/>
          </a:xfrm>
          <a:prstGeom prst="rect">
            <a:avLst/>
          </a:prstGeom>
          <a:solidFill>
            <a:srgbClr val="be1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TextBox 16"/>
          <p:cNvSpPr/>
          <p:nvPr/>
        </p:nvSpPr>
        <p:spPr>
          <a:xfrm>
            <a:off x="667440" y="4005000"/>
            <a:ext cx="3273120" cy="86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4. Model (Model)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Kerak bo‘lsa bazadan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o‘qiydi / yozadi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Rounded Rectangle 17"/>
          <p:cNvSpPr/>
          <p:nvPr/>
        </p:nvSpPr>
        <p:spPr>
          <a:xfrm>
            <a:off x="4251960" y="384048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Rectangle 18"/>
          <p:cNvSpPr/>
          <p:nvPr/>
        </p:nvSpPr>
        <p:spPr>
          <a:xfrm>
            <a:off x="4251960" y="3840480"/>
            <a:ext cx="109440" cy="246852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TextBox 19"/>
          <p:cNvSpPr/>
          <p:nvPr/>
        </p:nvSpPr>
        <p:spPr>
          <a:xfrm>
            <a:off x="4507920" y="4005000"/>
            <a:ext cx="3273120" cy="86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5. Andoza (Template)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HTML sahifa yasaydi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(klassik usul)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ounded Rectangle 20"/>
          <p:cNvSpPr/>
          <p:nvPr/>
        </p:nvSpPr>
        <p:spPr>
          <a:xfrm>
            <a:off x="8092440" y="3840480"/>
            <a:ext cx="3657240" cy="246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Rectangle 21"/>
          <p:cNvSpPr/>
          <p:nvPr/>
        </p:nvSpPr>
        <p:spPr>
          <a:xfrm>
            <a:off x="8092440" y="3840480"/>
            <a:ext cx="109440" cy="2468520"/>
          </a:xfrm>
          <a:prstGeom prst="rect">
            <a:avLst/>
          </a:prstGeom>
          <a:solidFill>
            <a:srgbClr val="c241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TextBox 22"/>
          <p:cNvSpPr/>
          <p:nvPr/>
        </p:nvSpPr>
        <p:spPr>
          <a:xfrm>
            <a:off x="8348400" y="4005000"/>
            <a:ext cx="3273120" cy="86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6. Javob (response)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Natija brauzerga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qaytadi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Oval 1"/>
          <p:cNvSpPr/>
          <p:nvPr/>
        </p:nvSpPr>
        <p:spPr>
          <a:xfrm>
            <a:off x="10241280" y="-731520"/>
            <a:ext cx="2925720" cy="2925720"/>
          </a:xfrm>
          <a:prstGeom prst="ellipse">
            <a:avLst/>
          </a:prstGeom>
          <a:solidFill>
            <a:srgbClr val="e0f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Oval 2"/>
          <p:cNvSpPr/>
          <p:nvPr/>
        </p:nvSpPr>
        <p:spPr>
          <a:xfrm>
            <a:off x="-822960" y="4937760"/>
            <a:ext cx="2377080" cy="2377080"/>
          </a:xfrm>
          <a:prstGeom prst="ellipse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Rectangl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TextBox 4"/>
          <p:cNvSpPr/>
          <p:nvPr/>
        </p:nvSpPr>
        <p:spPr>
          <a:xfrm>
            <a:off x="502920" y="255960"/>
            <a:ext cx="7772040" cy="6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0284c7"/>
                </a:solidFill>
                <a:latin typeface="Calibri"/>
                <a:ea typeface="Calibri"/>
              </a:rPr>
              <a:t>DJANGO · MTV ANDAZASI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0f172a"/>
                </a:solidFill>
                <a:latin typeface="Calibri"/>
                <a:ea typeface="Calibri"/>
              </a:rPr>
              <a:t>Uchta rol — eslab qolish oson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Rounded Rectangle 5"/>
          <p:cNvSpPr/>
          <p:nvPr/>
        </p:nvSpPr>
        <p:spPr>
          <a:xfrm>
            <a:off x="411480" y="1280160"/>
            <a:ext cx="3657240" cy="484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" name="Rectangle 6"/>
          <p:cNvSpPr/>
          <p:nvPr/>
        </p:nvSpPr>
        <p:spPr>
          <a:xfrm>
            <a:off x="411480" y="1280160"/>
            <a:ext cx="109440" cy="484596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TextBox 7"/>
          <p:cNvSpPr/>
          <p:nvPr/>
        </p:nvSpPr>
        <p:spPr>
          <a:xfrm>
            <a:off x="667440" y="1444680"/>
            <a:ext cx="3273120" cy="18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Model (Model)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Ma’lumot modeli.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Masalan: User, Product, Post.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ORM orqali SQL kamroq yoziladi — Python klasslari bilan baza boshqariladi.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Rounded Rectangle 8"/>
          <p:cNvSpPr/>
          <p:nvPr/>
        </p:nvSpPr>
        <p:spPr>
          <a:xfrm>
            <a:off x="4251960" y="1280160"/>
            <a:ext cx="3657240" cy="484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Rectangle 9"/>
          <p:cNvSpPr/>
          <p:nvPr/>
        </p:nvSpPr>
        <p:spPr>
          <a:xfrm>
            <a:off x="4251960" y="1280160"/>
            <a:ext cx="109440" cy="4845960"/>
          </a:xfrm>
          <a:prstGeom prst="rect">
            <a:avLst/>
          </a:prstGeom>
          <a:solidFill>
            <a:srgbClr val="c241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" name="TextBox 10"/>
          <p:cNvSpPr/>
          <p:nvPr/>
        </p:nvSpPr>
        <p:spPr>
          <a:xfrm>
            <a:off x="4507920" y="1444680"/>
            <a:ext cx="3273120" cy="18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Andoza (Template)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Ko‘rinish (HTML).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Foydalanuvchi brauzerda shuni ko‘radi.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Boshqaruvchidan kelgan ma’lumot sahifaga joylanadi.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Rounded Rectangle 11"/>
          <p:cNvSpPr/>
          <p:nvPr/>
        </p:nvSpPr>
        <p:spPr>
          <a:xfrm>
            <a:off x="8092440" y="1280160"/>
            <a:ext cx="3611520" cy="4845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Rectangle 12"/>
          <p:cNvSpPr/>
          <p:nvPr/>
        </p:nvSpPr>
        <p:spPr>
          <a:xfrm>
            <a:off x="8092440" y="1280160"/>
            <a:ext cx="109440" cy="4845960"/>
          </a:xfrm>
          <a:prstGeom prst="rect">
            <a:avLst/>
          </a:prstGeom>
          <a:solidFill>
            <a:srgbClr val="0478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TextBox 13"/>
          <p:cNvSpPr/>
          <p:nvPr/>
        </p:nvSpPr>
        <p:spPr>
          <a:xfrm>
            <a:off x="8348400" y="1444680"/>
            <a:ext cx="3227400" cy="19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Boshqaruvchi (View)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Mantiq markazi.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So‘rov keldi → qaror: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qaysi model? qaysi andoza?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Javobni tayyorlaydi.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Oval 1"/>
          <p:cNvSpPr/>
          <p:nvPr/>
        </p:nvSpPr>
        <p:spPr>
          <a:xfrm>
            <a:off x="10058400" y="-914400"/>
            <a:ext cx="3108600" cy="3108600"/>
          </a:xfrm>
          <a:prstGeom prst="ellipse">
            <a:avLst/>
          </a:prstGeom>
          <a:solidFill>
            <a:srgbClr val="fee2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0" name="Oval 2"/>
          <p:cNvSpPr/>
          <p:nvPr/>
        </p:nvSpPr>
        <p:spPr>
          <a:xfrm>
            <a:off x="-914400" y="4754880"/>
            <a:ext cx="2559960" cy="2559960"/>
          </a:xfrm>
          <a:prstGeom prst="ellipse">
            <a:avLst/>
          </a:prstGeom>
          <a:solidFill>
            <a:srgbClr val="fef3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Rectangl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be1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Rectangle 4"/>
          <p:cNvSpPr/>
          <p:nvPr/>
        </p:nvSpPr>
        <p:spPr>
          <a:xfrm>
            <a:off x="7635240" y="0"/>
            <a:ext cx="457164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63" name="Picture 5" descr="panel-multi.jpg"/>
          <p:cNvPicPr/>
          <p:nvPr/>
        </p:nvPicPr>
        <p:blipFill>
          <a:blip r:embed="rId1"/>
          <a:stretch/>
        </p:blipFill>
        <p:spPr>
          <a:xfrm>
            <a:off x="7635240" y="0"/>
            <a:ext cx="4571640" cy="6857640"/>
          </a:xfrm>
          <a:prstGeom prst="rect">
            <a:avLst/>
          </a:prstGeom>
          <a:ln w="0">
            <a:noFill/>
          </a:ln>
        </p:spPr>
      </p:pic>
      <p:sp>
        <p:nvSpPr>
          <p:cNvPr id="264" name="TextBox 6"/>
          <p:cNvSpPr/>
          <p:nvPr/>
        </p:nvSpPr>
        <p:spPr>
          <a:xfrm>
            <a:off x="502920" y="255960"/>
            <a:ext cx="7772040" cy="6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0284c7"/>
                </a:solidFill>
                <a:latin typeface="Calibri"/>
                <a:ea typeface="Calibri"/>
              </a:rPr>
              <a:t>MUAMMO 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0f172a"/>
                </a:solidFill>
                <a:latin typeface="Calibri"/>
                <a:ea typeface="Calibri"/>
              </a:rPr>
              <a:t>Faqat sayt yetarli emas — real hayot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Rounded Rectangle 7"/>
          <p:cNvSpPr/>
          <p:nvPr/>
        </p:nvSpPr>
        <p:spPr>
          <a:xfrm>
            <a:off x="457200" y="1280160"/>
            <a:ext cx="6857640" cy="493740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5875">
            <a:solidFill>
              <a:srgbClr val="be12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TextBox 8"/>
          <p:cNvSpPr/>
          <p:nvPr/>
        </p:nvSpPr>
        <p:spPr>
          <a:xfrm>
            <a:off x="731520" y="1554480"/>
            <a:ext cx="6400440" cy="281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400" spc="-1" strike="noStrike">
                <a:solidFill>
                  <a:srgbClr val="be123c"/>
                </a:solidFill>
                <a:latin typeface="Calibri"/>
                <a:ea typeface="Calibri"/>
              </a:rPr>
              <a:t>MUAMMO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  <a:ea typeface="Calibri"/>
              </a:rPr>
              <a:t>Biz yozgan kod faqat kompyuter brauzerida emas.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  <a:ea typeface="Calibri"/>
              </a:rPr>
              <a:t>Telefon ilova + ish stoli dasturi (desktop) + veb — parallel ishlashi kerak.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400" spc="-1" strike="noStrike">
                <a:solidFill>
                  <a:srgbClr val="334155"/>
                </a:solidFill>
                <a:latin typeface="Calibri"/>
                <a:ea typeface="Calibri"/>
              </a:rPr>
              <a:t>Klassik Django ko‘pincha HTML qaytaradi.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400" spc="-1" strike="noStrike">
                <a:solidFill>
                  <a:srgbClr val="334155"/>
                </a:solidFill>
                <a:latin typeface="Calibri"/>
                <a:ea typeface="Calibri"/>
              </a:rPr>
              <a:t>Mobil/ish stoli ilova esa HTML emas — ma’lumot (odatda JSON) so‘raydi.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c2410c"/>
                </a:solidFill>
                <a:latin typeface="Calibri"/>
                <a:ea typeface="Calibri"/>
              </a:rPr>
              <a:t>Xulosa-muammo: faqat andoza (Template) bilan bitta orqa qismni uchala platformaga to‘g‘ri ulash qiyin. Kuchliroq tushuncha kerak: dasturiy interfeys (API).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Oval 1"/>
          <p:cNvSpPr/>
          <p:nvPr/>
        </p:nvSpPr>
        <p:spPr>
          <a:xfrm>
            <a:off x="10058400" y="-914400"/>
            <a:ext cx="3108600" cy="3108600"/>
          </a:xfrm>
          <a:prstGeom prst="ellipse">
            <a:avLst/>
          </a:prstGeom>
          <a:solidFill>
            <a:srgbClr val="fee2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" name="Oval 2"/>
          <p:cNvSpPr/>
          <p:nvPr/>
        </p:nvSpPr>
        <p:spPr>
          <a:xfrm>
            <a:off x="-914400" y="4754880"/>
            <a:ext cx="2559960" cy="2559960"/>
          </a:xfrm>
          <a:prstGeom prst="ellipse">
            <a:avLst/>
          </a:prstGeom>
          <a:solidFill>
            <a:srgbClr val="fef3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Rectangl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be1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TextBox 4"/>
          <p:cNvSpPr/>
          <p:nvPr/>
        </p:nvSpPr>
        <p:spPr>
          <a:xfrm>
            <a:off x="502920" y="255960"/>
            <a:ext cx="7772040" cy="6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0284c7"/>
                </a:solidFill>
                <a:latin typeface="Calibri"/>
                <a:ea typeface="Calibri"/>
              </a:rPr>
              <a:t>MUAMMO 2 · KO‘RINISH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0f172a"/>
                </a:solidFill>
                <a:latin typeface="Calibri"/>
                <a:ea typeface="Calibri"/>
              </a:rPr>
              <a:t>Uchta mijoz — bitta ma’lumot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Rounded Rectangle 5"/>
          <p:cNvSpPr/>
          <p:nvPr/>
        </p:nvSpPr>
        <p:spPr>
          <a:xfrm>
            <a:off x="411480" y="1280160"/>
            <a:ext cx="3657240" cy="228564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" name="Rectangle 6"/>
          <p:cNvSpPr/>
          <p:nvPr/>
        </p:nvSpPr>
        <p:spPr>
          <a:xfrm>
            <a:off x="411480" y="1280160"/>
            <a:ext cx="109440" cy="2285640"/>
          </a:xfrm>
          <a:prstGeom prst="rect">
            <a:avLst/>
          </a:prstGeom>
          <a:solidFill>
            <a:srgbClr val="be1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TextBox 7"/>
          <p:cNvSpPr/>
          <p:nvPr/>
        </p:nvSpPr>
        <p:spPr>
          <a:xfrm>
            <a:off x="667440" y="1444680"/>
            <a:ext cx="327312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Telefon (mobile)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Mobil ilova.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HTML emas — dasturiy interfeys (API) kerak.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Rounded Rectangle 8"/>
          <p:cNvSpPr/>
          <p:nvPr/>
        </p:nvSpPr>
        <p:spPr>
          <a:xfrm>
            <a:off x="4251960" y="1280160"/>
            <a:ext cx="3657240" cy="228564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Rectangle 9"/>
          <p:cNvSpPr/>
          <p:nvPr/>
        </p:nvSpPr>
        <p:spPr>
          <a:xfrm>
            <a:off x="4251960" y="1280160"/>
            <a:ext cx="109440" cy="2285640"/>
          </a:xfrm>
          <a:prstGeom prst="rect">
            <a:avLst/>
          </a:prstGeom>
          <a:solidFill>
            <a:srgbClr val="be1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TextBox 10"/>
          <p:cNvSpPr/>
          <p:nvPr/>
        </p:nvSpPr>
        <p:spPr>
          <a:xfrm>
            <a:off x="4507920" y="1444680"/>
            <a:ext cx="3273120" cy="86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Ish stoli (desktop)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Kompyuter dasturi.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Ham ma’lumot so‘raydi.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Rounded Rectangle 11"/>
          <p:cNvSpPr/>
          <p:nvPr/>
        </p:nvSpPr>
        <p:spPr>
          <a:xfrm>
            <a:off x="8092440" y="1280160"/>
            <a:ext cx="3657240" cy="228564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" name="Rectangle 12"/>
          <p:cNvSpPr/>
          <p:nvPr/>
        </p:nvSpPr>
        <p:spPr>
          <a:xfrm>
            <a:off x="8092440" y="1280160"/>
            <a:ext cx="109440" cy="2285640"/>
          </a:xfrm>
          <a:prstGeom prst="rect">
            <a:avLst/>
          </a:prstGeom>
          <a:solidFill>
            <a:srgbClr val="be1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TextBox 13"/>
          <p:cNvSpPr/>
          <p:nvPr/>
        </p:nvSpPr>
        <p:spPr>
          <a:xfrm>
            <a:off x="8348400" y="1444680"/>
            <a:ext cx="3273120" cy="86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Veb (web)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Brauzer / yagona sahifa ilova (SPA).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HTML yoki API.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Rounded Rectangle 14"/>
          <p:cNvSpPr/>
          <p:nvPr/>
        </p:nvSpPr>
        <p:spPr>
          <a:xfrm>
            <a:off x="411480" y="3840480"/>
            <a:ext cx="11338200" cy="233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241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TextBox 15"/>
          <p:cNvSpPr/>
          <p:nvPr/>
        </p:nvSpPr>
        <p:spPr>
          <a:xfrm>
            <a:off x="731520" y="4069080"/>
            <a:ext cx="1078956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0f172a"/>
                </a:solidFill>
                <a:latin typeface="Calibri"/>
                <a:ea typeface="Calibri"/>
              </a:rPr>
              <a:t>Savol: mahsulot/foydalanuvchi ma’lumotini uchalasiga qanday beramiz?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Agar faqat HTML bersak — telefon va ish stoli “tushunmaydi”.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334155"/>
                </a:solidFill>
                <a:latin typeface="Calibri"/>
                <a:ea typeface="Calibri"/>
              </a:rPr>
              <a:t>Yechim sifatida Django REST Framework (DRF) tavsiya qilinadi.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Oval 1"/>
          <p:cNvSpPr/>
          <p:nvPr/>
        </p:nvSpPr>
        <p:spPr>
          <a:xfrm>
            <a:off x="10149840" y="-822960"/>
            <a:ext cx="3017160" cy="3017160"/>
          </a:xfrm>
          <a:prstGeom prst="ellipse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Oval 2"/>
          <p:cNvSpPr/>
          <p:nvPr/>
        </p:nvSpPr>
        <p:spPr>
          <a:xfrm>
            <a:off x="-731520" y="4846320"/>
            <a:ext cx="2285640" cy="2285640"/>
          </a:xfrm>
          <a:prstGeom prst="ellipse">
            <a:avLst/>
          </a:prstGeom>
          <a:solidFill>
            <a:srgbClr val="e0f2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4" name="Rectangl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0478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85" name="Picture 4" descr="multi-platform.jpg"/>
          <p:cNvPicPr/>
          <p:nvPr/>
        </p:nvPicPr>
        <p:blipFill>
          <a:blip r:embed="rId1"/>
          <a:stretch/>
        </p:blipFill>
        <p:spPr>
          <a:xfrm>
            <a:off x="8595360" y="182880"/>
            <a:ext cx="3291480" cy="959760"/>
          </a:xfrm>
          <a:prstGeom prst="rect">
            <a:avLst/>
          </a:prstGeom>
          <a:ln w="0">
            <a:noFill/>
          </a:ln>
        </p:spPr>
      </p:pic>
      <p:sp>
        <p:nvSpPr>
          <p:cNvPr id="286" name="TextBox 5"/>
          <p:cNvSpPr/>
          <p:nvPr/>
        </p:nvSpPr>
        <p:spPr>
          <a:xfrm>
            <a:off x="502920" y="255960"/>
            <a:ext cx="7772040" cy="6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0284c7"/>
                </a:solidFill>
                <a:latin typeface="Calibri"/>
                <a:ea typeface="Calibri"/>
              </a:rPr>
              <a:t>YECHIM 2 · DJANGO REST (DRF)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300" spc="-1" strike="noStrike">
                <a:solidFill>
                  <a:srgbClr val="0f172a"/>
                </a:solidFill>
                <a:latin typeface="Calibri"/>
                <a:ea typeface="Calibri"/>
              </a:rPr>
              <a:t>Bir orqa qism — ko‘p platforma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Rounded Rectangle 6"/>
          <p:cNvSpPr/>
          <p:nvPr/>
        </p:nvSpPr>
        <p:spPr>
          <a:xfrm>
            <a:off x="411480" y="1188720"/>
            <a:ext cx="11338200" cy="127980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5875">
            <a:solidFill>
              <a:srgbClr val="04785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" name="TextBox 7"/>
          <p:cNvSpPr/>
          <p:nvPr/>
        </p:nvSpPr>
        <p:spPr>
          <a:xfrm>
            <a:off x="685800" y="1371600"/>
            <a:ext cx="10881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DRF — Django ustida dasturiy interfeys (API) qatlami. Ma’lumotni JSON qilib beradi.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Telefon, ish stoli, veb — parallel ulanadi. Django o‘rnini bosmaydi — uni kengaytiradi.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Rounded Rectangle 8"/>
          <p:cNvSpPr/>
          <p:nvPr/>
        </p:nvSpPr>
        <p:spPr>
          <a:xfrm>
            <a:off x="411480" y="2697480"/>
            <a:ext cx="3657240" cy="34743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Rectangle 9"/>
          <p:cNvSpPr/>
          <p:nvPr/>
        </p:nvSpPr>
        <p:spPr>
          <a:xfrm>
            <a:off x="411480" y="2697480"/>
            <a:ext cx="109440" cy="3474360"/>
          </a:xfrm>
          <a:prstGeom prst="rect">
            <a:avLst/>
          </a:prstGeom>
          <a:solidFill>
            <a:srgbClr val="0478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TextBox 10"/>
          <p:cNvSpPr/>
          <p:nvPr/>
        </p:nvSpPr>
        <p:spPr>
          <a:xfrm>
            <a:off x="667440" y="2862000"/>
            <a:ext cx="3273120" cy="177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Nima qiladi?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HTML o‘rniga JSON.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Masalan: /api/products/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Serializator, ViewSet, yo‘naltirgich (router), autentifikatsiya — API uchun asosiy vositalar.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Rounded Rectangle 11"/>
          <p:cNvSpPr/>
          <p:nvPr/>
        </p:nvSpPr>
        <p:spPr>
          <a:xfrm>
            <a:off x="4251960" y="2697480"/>
            <a:ext cx="3657240" cy="34743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Rectangle 12"/>
          <p:cNvSpPr/>
          <p:nvPr/>
        </p:nvSpPr>
        <p:spPr>
          <a:xfrm>
            <a:off x="4251960" y="2697480"/>
            <a:ext cx="109440" cy="347436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TextBox 13"/>
          <p:cNvSpPr/>
          <p:nvPr/>
        </p:nvSpPr>
        <p:spPr>
          <a:xfrm>
            <a:off x="4507920" y="2862000"/>
            <a:ext cx="3273120" cy="14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Nima uchun kerak?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Bir marta yozilgan biznes-mantiq barcha mijozlarga xizmat qiladi.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Real hayotdagi “parallel ishlash” shu yerda yechiladi.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Rounded Rectangle 14"/>
          <p:cNvSpPr/>
          <p:nvPr/>
        </p:nvSpPr>
        <p:spPr>
          <a:xfrm>
            <a:off x="8092440" y="2697480"/>
            <a:ext cx="3611520" cy="34743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5875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Rectangle 15"/>
          <p:cNvSpPr/>
          <p:nvPr/>
        </p:nvSpPr>
        <p:spPr>
          <a:xfrm>
            <a:off x="8092440" y="2697480"/>
            <a:ext cx="109440" cy="3474360"/>
          </a:xfrm>
          <a:prstGeom prst="rect">
            <a:avLst/>
          </a:prstGeom>
          <a:solidFill>
            <a:srgbClr val="c241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TextBox 16"/>
          <p:cNvSpPr/>
          <p:nvPr/>
        </p:nvSpPr>
        <p:spPr>
          <a:xfrm>
            <a:off x="8348400" y="2862000"/>
            <a:ext cx="3227400" cy="18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500" spc="-1" strike="noStrike">
                <a:solidFill>
                  <a:srgbClr val="0f172a"/>
                </a:solidFill>
                <a:latin typeface="Calibri"/>
                <a:ea typeface="Calibri"/>
              </a:rPr>
              <a:t>O‘rganish tartibi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1) Python asoslari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2) Django (sayt)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3) DRF (API)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Avval muammo, keyin yechim — shu tartibda.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Picture 1" descr="conclusion-baked.jp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299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478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0" name="Rounded Rectangle 3"/>
          <p:cNvSpPr/>
          <p:nvPr/>
        </p:nvSpPr>
        <p:spPr>
          <a:xfrm>
            <a:off x="365760" y="411480"/>
            <a:ext cx="11429640" cy="6034680"/>
          </a:xfrm>
          <a:prstGeom prst="roundRect">
            <a:avLst>
              <a:gd name="adj" fmla="val 16667"/>
            </a:avLst>
          </a:prstGeom>
          <a:solidFill>
            <a:srgbClr val="0b12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Rounded Rectangle 4"/>
          <p:cNvSpPr/>
          <p:nvPr/>
        </p:nvSpPr>
        <p:spPr>
          <a:xfrm>
            <a:off x="640080" y="640080"/>
            <a:ext cx="2011320" cy="347040"/>
          </a:xfrm>
          <a:prstGeom prst="roundRect">
            <a:avLst>
              <a:gd name="adj" fmla="val 16667"/>
            </a:avLst>
          </a:prstGeom>
          <a:solidFill>
            <a:srgbClr val="0478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TextBox 5"/>
          <p:cNvSpPr/>
          <p:nvPr/>
        </p:nvSpPr>
        <p:spPr>
          <a:xfrm>
            <a:off x="640080" y="685080"/>
            <a:ext cx="20113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XULOSA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Box 6"/>
          <p:cNvSpPr/>
          <p:nvPr/>
        </p:nvSpPr>
        <p:spPr>
          <a:xfrm>
            <a:off x="640080" y="1143000"/>
            <a:ext cx="10789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Bugungi darsdan olib ketiladigan asoslar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Oval 7"/>
          <p:cNvSpPr/>
          <p:nvPr/>
        </p:nvSpPr>
        <p:spPr>
          <a:xfrm>
            <a:off x="685800" y="2011680"/>
            <a:ext cx="502560" cy="502560"/>
          </a:xfrm>
          <a:prstGeom prst="ellipse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TextBox 8"/>
          <p:cNvSpPr/>
          <p:nvPr/>
        </p:nvSpPr>
        <p:spPr>
          <a:xfrm>
            <a:off x="685800" y="2075760"/>
            <a:ext cx="502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Rounded Rectangle 9"/>
          <p:cNvSpPr/>
          <p:nvPr/>
        </p:nvSpPr>
        <p:spPr>
          <a:xfrm>
            <a:off x="1417320" y="1874520"/>
            <a:ext cx="9875160" cy="914040"/>
          </a:xfrm>
          <a:prstGeom prst="roundRect">
            <a:avLst>
              <a:gd name="adj" fmla="val 16667"/>
            </a:avLst>
          </a:prstGeom>
          <a:solidFill>
            <a:srgbClr val="15233b"/>
          </a:solidFill>
          <a:ln w="15875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TextBox 10"/>
          <p:cNvSpPr/>
          <p:nvPr/>
        </p:nvSpPr>
        <p:spPr>
          <a:xfrm>
            <a:off x="1691640" y="2011680"/>
            <a:ext cx="941796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Python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Calibri"/>
              </a:rPr>
              <a:t>Umumiy maqsadli til: o‘qilishi oson, tipni o‘zi aniqlaydi, ekotizimi boy.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Oval 11"/>
          <p:cNvSpPr/>
          <p:nvPr/>
        </p:nvSpPr>
        <p:spPr>
          <a:xfrm>
            <a:off x="685800" y="3063240"/>
            <a:ext cx="502560" cy="502560"/>
          </a:xfrm>
          <a:prstGeom prst="ellipse">
            <a:avLst/>
          </a:prstGeom>
          <a:solidFill>
            <a:srgbClr val="c241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TextBox 12"/>
          <p:cNvSpPr/>
          <p:nvPr/>
        </p:nvSpPr>
        <p:spPr>
          <a:xfrm>
            <a:off x="685800" y="3127320"/>
            <a:ext cx="502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Rounded Rectangle 13"/>
          <p:cNvSpPr/>
          <p:nvPr/>
        </p:nvSpPr>
        <p:spPr>
          <a:xfrm>
            <a:off x="1417320" y="2926080"/>
            <a:ext cx="9875160" cy="914040"/>
          </a:xfrm>
          <a:prstGeom prst="roundRect">
            <a:avLst>
              <a:gd name="adj" fmla="val 16667"/>
            </a:avLst>
          </a:prstGeom>
          <a:solidFill>
            <a:srgbClr val="15233b"/>
          </a:solidFill>
          <a:ln w="15875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TextBox 14"/>
          <p:cNvSpPr/>
          <p:nvPr/>
        </p:nvSpPr>
        <p:spPr>
          <a:xfrm>
            <a:off x="1691640" y="3063240"/>
            <a:ext cx="941796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Django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Calibri"/>
              </a:rPr>
              <a:t>Boshlang‘ich veb uchun to‘liq dasturiy asos (framework) — asosiy tavsiya.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Oval 15"/>
          <p:cNvSpPr/>
          <p:nvPr/>
        </p:nvSpPr>
        <p:spPr>
          <a:xfrm>
            <a:off x="685800" y="4114800"/>
            <a:ext cx="502560" cy="502560"/>
          </a:xfrm>
          <a:prstGeom prst="ellipse">
            <a:avLst/>
          </a:prstGeom>
          <a:solidFill>
            <a:srgbClr val="be12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TextBox 16"/>
          <p:cNvSpPr/>
          <p:nvPr/>
        </p:nvSpPr>
        <p:spPr>
          <a:xfrm>
            <a:off x="685800" y="4178880"/>
            <a:ext cx="502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Rounded Rectangle 17"/>
          <p:cNvSpPr/>
          <p:nvPr/>
        </p:nvSpPr>
        <p:spPr>
          <a:xfrm>
            <a:off x="1417320" y="3977640"/>
            <a:ext cx="9875160" cy="914040"/>
          </a:xfrm>
          <a:prstGeom prst="roundRect">
            <a:avLst>
              <a:gd name="adj" fmla="val 16667"/>
            </a:avLst>
          </a:prstGeom>
          <a:solidFill>
            <a:srgbClr val="15233b"/>
          </a:solidFill>
          <a:ln w="15875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18"/>
          <p:cNvSpPr/>
          <p:nvPr/>
        </p:nvSpPr>
        <p:spPr>
          <a:xfrm>
            <a:off x="1691640" y="4114800"/>
            <a:ext cx="941796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Muammo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Calibri"/>
              </a:rPr>
              <a:t>Faqat sayt yetarli emas: telefon + ish stoli + veb parallel kerak.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Oval 19"/>
          <p:cNvSpPr/>
          <p:nvPr/>
        </p:nvSpPr>
        <p:spPr>
          <a:xfrm>
            <a:off x="685800" y="5166360"/>
            <a:ext cx="502560" cy="502560"/>
          </a:xfrm>
          <a:prstGeom prst="ellipse">
            <a:avLst/>
          </a:prstGeom>
          <a:solidFill>
            <a:srgbClr val="04785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7" name="TextBox 20"/>
          <p:cNvSpPr/>
          <p:nvPr/>
        </p:nvSpPr>
        <p:spPr>
          <a:xfrm>
            <a:off x="685800" y="5230440"/>
            <a:ext cx="502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Rounded Rectangle 21"/>
          <p:cNvSpPr/>
          <p:nvPr/>
        </p:nvSpPr>
        <p:spPr>
          <a:xfrm>
            <a:off x="1417320" y="5029200"/>
            <a:ext cx="9875160" cy="914040"/>
          </a:xfrm>
          <a:prstGeom prst="roundRect">
            <a:avLst>
              <a:gd name="adj" fmla="val 16667"/>
            </a:avLst>
          </a:prstGeom>
          <a:solidFill>
            <a:srgbClr val="15233b"/>
          </a:solidFill>
          <a:ln w="15875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9" name="TextBox 22"/>
          <p:cNvSpPr/>
          <p:nvPr/>
        </p:nvSpPr>
        <p:spPr>
          <a:xfrm>
            <a:off x="1691640" y="5166360"/>
            <a:ext cx="941796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DRF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Calibri"/>
              </a:rPr>
              <a:t>Yechim: bitta dasturiy interfeys (API) orqali barcha platformalar ulanadi.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