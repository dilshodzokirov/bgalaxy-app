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-youth-co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4206240" cy="3657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4206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MUAMMOGA ASOSLANGAN O‘QITISH (PBL)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868680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→ Django → Django REST</a:t>
            </a:r>
          </a:p>
          <a:p>
            <a:pPr algn="l">
              <a:spcAft>
                <a:spcPts val="1600"/>
              </a:spcAft>
            </a:pPr>
            <a:r>
              <a:rPr sz="1700" b="0">
                <a:solidFill>
                  <a:srgbClr val="E2E8F0"/>
                </a:solidFill>
                <a:latin typeface="Calibri"/>
                <a:ea typeface="Calibri"/>
                <a:cs typeface="Calibri"/>
              </a:rPr>
              <a:t>1) Python nima? Xususiyatlari va boshqa tillarga nisbatan yutuqlari
2) Muammo: veb kerak → Django
3) Muammo: telefon + ish stoli + sayt parallel → DRF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FDBA74"/>
                </a:solidFill>
                <a:latin typeface="Calibri"/>
                <a:ea typeface="Calibri"/>
                <a:cs typeface="Calibri"/>
              </a:rPr>
              <a:t>Qoida: avval MUAMMO, keyin YECHIM.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12648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v7 · rasmlar + o‘zbekcha atamalar (inglizchasi qavsda)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ython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pic>
        <p:nvPicPr>
          <p:cNvPr id="7" name="Picture 6" descr="overlay-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SAVOL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nima?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6858000" cy="15544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417320"/>
            <a:ext cx="6492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— umumiy maqsadli (general-purpose), yuqori darajali dasturlash tili.
Kod yoziladi, keyin talqinchi (interpreter) orqali bajariladi. Maqsad: odam o‘qishi oson bo‘lgan dastur yozish.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109728" cy="16002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318211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Yuqori darajali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Past darajadagi xotira buyruqlari bilan emas — masala va mantiq bilan ishlaysiz.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01752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86200" y="3017520"/>
            <a:ext cx="109728" cy="160020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42232" y="318211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Talqin qilinadi (interpreted)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Ko‘pincha alohida exe majburiy emas. .py faylni talqinchi ishga tushiradi.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75488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109728" cy="16002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491947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uslubli (multi-paradigm)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Oddiy tartib, obyektli (OOP), funksiyaviy uslub — bir tilda birga.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4754880"/>
            <a:ext cx="324612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886200" y="4754880"/>
            <a:ext cx="109728" cy="16002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42232" y="4919472"/>
            <a:ext cx="28620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Ochiq kodli (open source)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Erkin, katta jamiyat. Windows / macOS / Linux da bir xil fikrlash.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ython-conce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XUSUSIYATLAR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Ichida nima bor — oson, lekin teran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Sintaksis (syntax)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Bo‘sh joy bilan blok (indentatsiya) majburiy. Stil bir xil bo‘ladi, o‘qish osonlashadi.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O‘zgaruvchan tip (dynamic typing)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Tipni majburan yozmaysiz. Qiymatga qarab aniqlanadi. Katta loyihada tip ko‘rsatmasi (type hint) ixtiyoriy.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Ichki boylik (batteries included)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Standart kutubxona boy: fayl, JSON, tarmoq so‘rovi, vaqt, qidiruv andozasi…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Keng ekotizim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Tashqi ombor (PyPI) orqali minglab paket: Django, FastAPI, Pandas, NumPy…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Tez ishlab chiqish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 ortiqcha shablon-kod (boilerplate) → prototip tez chiqadi.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Ko‘chma (portable)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xil kod turli tizimlarda ishlashi oson. Izolyatsiya muhiti (virtual environment) bilan boshqariladi.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SOLISHTIRMA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Boshqa tillarga nisbatan yutuqli tomonlari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Bu “boshqa tillar yomon” degani emas — Python qayerda yutadi, shu yerda aniq aytamiz.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109728" cy="219456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76479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Java / C#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Kamroq ortiqcha shablon-kod. Tip va klass e’lonlari kamroq. O‘rganish egri chizig‘i yumshoqroq. Veb va sun’iy intellekt prototipida tezroq.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109728" cy="219456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6479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C / C++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Xotirani qo‘lda boshqarmaysiz. Ko‘rsatkich (pointer) xatolari kam. Sof tezlik pastroq bo‘lishi mumkin — ko‘p vazifa uchun yetarli.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93192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931920"/>
            <a:ext cx="109728" cy="219456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9651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JavaScript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JS asosan brauzer + Node. Python esa sun’iy intellekt, ma’lumot tahlili, avtomatlashtirish, veb orqa qismida kengroq tanlov.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577840" cy="21945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931920"/>
            <a:ext cx="109728" cy="219456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4096512"/>
            <a:ext cx="5193792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Go / Rust ga nisbatan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Go/Rust tizim tezligi uchun kuchli. Python o‘qiluvchanlik, ekotizim va tez ishlab chiqishda yutadi.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SOLISHTIRMA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xil vazifa: juft sonlarni olish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Yutuq shu yerda: kam qator, aniq ma’no, o‘qish oson.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600200"/>
            <a:ext cx="557784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600200"/>
            <a:ext cx="557784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 (uzunroq)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nums = Arrays.asList(1,2,3,4,5);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List&lt;Integer&gt; evens = new ArrayList&lt;&gt;();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for (Integer n : nums)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if (n % 2 == 0)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    evens.add(n);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System.out.println(evens);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00200"/>
            <a:ext cx="5440680" cy="46634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60020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 (qisqa + aniq)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103120"/>
            <a:ext cx="507492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nums = [1, 2, 3, 4, 5]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evens = [n for n in nums if n % 2 == 0]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print(evens)  # [2, 4]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Xulosa: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bir xil natija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kamroq kod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o‘qish osonroq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TIP TIZIMI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Tipni kim aniqlaydi?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19202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519379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Ko‘p tillarda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O‘zgaruvchi ochilganda tip yoziladi: butun son (int), matn (String)…
Tekshiruv oldindan bo‘ladi. Aniqlik yuqori, yozish uzunroq.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40680" cy="19202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109728" cy="192024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1399032"/>
            <a:ext cx="5056632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Tip majburiy yozilmaydi — qiymatga qarab aniqlanadi.
Tez yozish. Katta loyihada tip ko‘rsatmasi (type hint) qo‘shish mumkin.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337560"/>
            <a:ext cx="557784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337560"/>
            <a:ext cx="5577840" cy="38404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38328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Java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40480"/>
            <a:ext cx="52120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int yosh = 18;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String ism = "Ali";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double narx = 12.5;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boolean aktiv = true;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37560"/>
            <a:ext cx="5440680" cy="2971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337560"/>
            <a:ext cx="544068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38328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840480"/>
            <a:ext cx="507492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yosh = 18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ism = "Ali"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narx = 12.5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aktiv = True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tipni Python o‘zi biladi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AMALIY ASOSLAR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Ro‘yxat, lug‘at, funksiya — kundalik vositalar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557784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577840" cy="384048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80160"/>
            <a:ext cx="5303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Ma’lumot tuzilmalari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521208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talaba = {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"ism": "Ali",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"ball": 95,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print(talaba["ism"])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 = ["Python", "Django"]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fanlar.append("REST")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lug‘at (dict) = kalit→qiymat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ro‘yxat (list) = tartibli to‘plam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34440"/>
            <a:ext cx="544068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440680" cy="384048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166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Funksiya (function)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737360"/>
            <a:ext cx="507492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yigindi(a, b):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a + b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print(yigindi(2, 3))  # 5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def salom(ism="mehmon"):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   return f"Salom, {ism}"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B1220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Funksiya = takrorlanadigan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047857"/>
                </a:solidFill>
                <a:latin typeface="Consolas"/>
                <a:ea typeface="Consolas"/>
                <a:cs typeface="Consolas"/>
              </a:rPr>
              <a:t># mantiqni bitta joyga yig‘ish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ero-youth-co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PYTHON · QAYERDA ISHLATILADI?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til — bir necha yo‘nalish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 orqa qismi (backend)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Django, Flask, FastAPI.
Sayt va dasturiy interfeys (API).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Ma’lumot tahlili (data)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Pandas, NumPy.
Jadvallar ustida kuchli tahlil.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Sun’iy intellekt (AI / ML)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PyTorch, TensorFlow.
Model o‘qitish va bashorat.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Avtomatlashtirish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Fayl, jadval, pochta, saytdan ma’lumot olish (scraping).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Ilmiy hisob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SciPy, Matplotlib.
Grafik va matematik modellar.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Skript / DevOps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Server skriptlari, yordamchi vositalar, tarmoq so‘rovlari.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eb-djan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pic>
        <p:nvPicPr>
          <p:cNvPr id="7" name="Picture 6" descr="overlay-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1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o‘zi — lekin veb kerak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6858000" cy="49377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6400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Python da skript yozishni o‘rgandik. Lekin real mahsulot ko‘pincha brauzerda: sayt, kabinet, boshqaruv paneli, forma…</a:t>
            </a:r>
          </a:p>
          <a:p>
            <a:pPr algn="l">
              <a:spcAft>
                <a:spcPts val="14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Savol: faqat print() bilan to‘liq veb-tizim bo‘ladimi?
Manzil yo‘naltirish (URL routing), ma’lumotlar bazasi, kirish (login), xavfsizlik, sahifa andozasi — bularni noldan yig‘ish og‘ir.</a:t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Shuning uchun boshlang‘ich veb uchun dasturiy asos (framework) tanlaymiz.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822960"/>
            <a:ext cx="3017520" cy="30175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846320"/>
            <a:ext cx="2286000" cy="22860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eb-djan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1 · DJANGO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Boshlang‘ich veb uchun asosiy tavsiya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123444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Django — Python dagi to‘liq veb dasturiy asosi (full-stack framework).
Ichida tayyor: kirish tizimi, boshqaruv paneli, ORM, sahifa andozasi, xavfsizlik.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Django?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Boshlang‘ich uchun yo‘l aniq: loyiha/ilova (Project/App), manzil (URL), boshqaruvchi (View), model, andoza (Template).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beradi?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Kirish/ro‘yxat, admin panel, baza bilan ORM, HTML sahifalar, himoya vositalari (CSRF va boshqalar).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Qanday o‘rganamiz?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Avval so‘rov qanday yurishini tushunamiz. Keyin kichik sayt. Keyin dasturiy interfeys (API).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QANDAY ISHLAYDI?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Bitta so‘rovning (request) ketma-ketligi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1. So‘rov (request)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manzil ochadi
yoki forma yuboradi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3444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2. Manzil (URL)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Django to‘g‘ri yo‘lni
topadi (urls.py)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34440"/>
            <a:ext cx="109728" cy="246888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39903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3. Boshqaruvchi (View)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ishlaydi:
tekshiruv, hisob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840480"/>
            <a:ext cx="109728" cy="2468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4. Model (Model)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Kerak bo‘lsa bazadan
o‘qiydi / yozadi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1960" y="3840480"/>
            <a:ext cx="109728" cy="24688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5. Andoza (Template)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sahifa yasaydi
(klassik usul)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3840480"/>
            <a:ext cx="365760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3840480"/>
            <a:ext cx="109728" cy="246888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4005072"/>
            <a:ext cx="3273552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6. Javob (response)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Natija brauzerga
qaytadi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241280" y="-731520"/>
            <a:ext cx="2926080" cy="292608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822960" y="4937760"/>
            <a:ext cx="2377440" cy="237744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DJANGO · MTV ANDAZASI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rol — eslab qolish oson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09728" cy="48463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27355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Model (Model)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Ma’lumot modeli.
Masalan: User, Product, Post.
ORM orqali SQL kamroq yoziladi — Python klasslari bilan baza boshqariladi.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109728" cy="48463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44752"/>
            <a:ext cx="327355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Andoza (Template)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Ko‘rinish (HTML).
Foydalanuvchi brauzerda shuni ko‘radi.
Boshqaruvchidan kelgan ma’lumot sahifaga joylanadi.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11880" cy="4846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109728" cy="48463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44752"/>
            <a:ext cx="3227832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Boshqaruvchi (View)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Mantiq markazi.
So‘rov keldi → qaror:
qaysi model? qaysi andoza?
Javobni tayyorlaydi.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35240" y="0"/>
            <a:ext cx="4572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multi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pic>
        <p:nvPicPr>
          <p:cNvPr id="7" name="Picture 6" descr="overlay-so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0"/>
            <a:ext cx="4572000" cy="6858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Faqat sayt yetarli emas — real hayot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6858000" cy="493776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554480"/>
            <a:ext cx="640080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1">
                <a:solidFill>
                  <a:srgbClr val="BE123C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1200"/>
              </a:spcAft>
            </a:pPr>
            <a:r>
              <a:rPr sz="16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Biz yozgan kod faqat kompyuter brauzerida emas.
Telefon ilova + ish stoli dasturi (desktop) + veb — parallel ishlashi kerak.</a:t>
            </a:r>
          </a:p>
          <a:p>
            <a:pPr algn="l">
              <a:spcAft>
                <a:spcPts val="1200"/>
              </a:spcAft>
            </a:pPr>
            <a:r>
              <a:rPr sz="14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Klassik Django ko‘pincha HTML qaytaradi.
Mobil/ish stoli ilova esa HTML emas — ma’lumot (odatda JSON) so‘raydi.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C2410C"/>
                </a:solidFill>
                <a:latin typeface="Calibri"/>
                <a:ea typeface="Calibri"/>
                <a:cs typeface="Calibri"/>
              </a:rPr>
              <a:t>Xulosa-muammo: faqat andoza (Template) bilan bitta orqa qismni uchala platformaga to‘g‘ri ulash qiyin. Kuchliroq tushuncha kerak: dasturiy interfeys (API).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058400" y="-914400"/>
            <a:ext cx="3108960" cy="310896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754880"/>
            <a:ext cx="2560320" cy="256032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MUAMMO 2 · KO‘RINISH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Uchta mijoz — bitta ma’lumot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Telefon (mobile)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Mobil ilova.
HTML emas — dasturiy interfeys (API) kerak.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Ish stoli (desktop)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Kompyuter dasturi.
Ham ma’lumot so‘raydi.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80160"/>
            <a:ext cx="3657600" cy="22860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92440" y="1280160"/>
            <a:ext cx="109728" cy="228600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444752"/>
            <a:ext cx="327355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Veb (web)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Brauzer / yagona sahifa ilova (SPA).
HTML yoki API.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840480"/>
            <a:ext cx="1133856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789920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Savol: mahsulot/foydalanuvchi ma’lumotini uchalasiga qanday beramiz?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Agar faqat HTML bersak — telefon va ish stoli “tushunmaydi”.
Yechim sifatida Django REST Framework (DRF) tavsiya qilinadi.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149840" y="-822960"/>
            <a:ext cx="3017520" cy="30175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4846320"/>
            <a:ext cx="2286000" cy="2286000"/>
          </a:xfrm>
          <a:prstGeom prst="ellipse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ulti-platfor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182880"/>
            <a:ext cx="329184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56032"/>
            <a:ext cx="77724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284C7"/>
                </a:solidFill>
                <a:latin typeface="Calibri"/>
                <a:ea typeface="Calibri"/>
                <a:cs typeface="Calibri"/>
              </a:rPr>
              <a:t>YECHIM 2 · DJANGO REST (DRF)</a:t>
            </a:r>
          </a:p>
          <a:p>
            <a:pPr algn="l">
              <a:spcAft>
                <a:spcPts val="0"/>
              </a:spcAft>
            </a:pPr>
            <a:r>
              <a:rPr sz="23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Bir orqa qism — ko‘p platforma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188720"/>
            <a:ext cx="11338560" cy="128016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DRF — Django ustida dasturiy interfeys (API) qatlami. Ma’lumotni JSON qilib beradi.
Telefon, ish stoli, veb — parallel ulanadi. Django o‘rnini bosmaydi — uni kengaytiradi.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697480"/>
            <a:ext cx="109728" cy="347472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qiladi?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HTML o‘rniga JSON.
Masalan: /api/products/
Serializator, ViewSet, yo‘naltirgich (router), autentifikatsiya — API uchun asosiy vositalar.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697480"/>
            <a:ext cx="365760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2697480"/>
            <a:ext cx="109728" cy="3474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07992" y="2862072"/>
            <a:ext cx="327355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Nima uchun kerak?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Bir marta yozilgan biznes-mantiq barcha mijozlarga xizmat qiladi.
Real hayotdagi “parallel ishlash” shu yerda yechiladi.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2697480"/>
            <a:ext cx="3611880" cy="3474720"/>
          </a:xfrm>
          <a:prstGeom prst="roundRect">
            <a:avLst/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2697480"/>
            <a:ext cx="109728" cy="347472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2862072"/>
            <a:ext cx="322783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O‘rganish tartibi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34155"/>
                </a:solidFill>
                <a:latin typeface="Calibri"/>
                <a:ea typeface="Calibri"/>
                <a:cs typeface="Calibri"/>
              </a:rPr>
              <a:t>1) Python asoslari
2) Django (sayt)
3) DRF (API)
Avval muammo, keyin yechim — shu tartibda.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clusion-pa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overlay-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2011680" cy="347472"/>
          </a:xfrm>
          <a:prstGeom prst="roundRect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0080"/>
            <a:ext cx="20116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XULOSA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Bugungi darsdan olib ketiladigan asoslar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103120"/>
            <a:ext cx="502920" cy="50292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17320" y="1965960"/>
            <a:ext cx="9875520" cy="9144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2103120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Python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Umumiy maqsadli til: o‘qilishi oson, tipni o‘zi aniqlaydi, ekotizimi boy.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154680"/>
            <a:ext cx="502920" cy="502920"/>
          </a:xfrm>
          <a:prstGeom prst="ellipse">
            <a:avLst/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21868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17320" y="3017520"/>
            <a:ext cx="9875520" cy="9144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154680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Django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Boshlang‘ich veb uchun to‘liq dasturiy asos (framework) — asosiy tavsiya.</a:t>
            </a:r>
          </a:p>
        </p:txBody>
      </p:sp>
      <p:sp>
        <p:nvSpPr>
          <p:cNvPr id="16" name="Oval 15"/>
          <p:cNvSpPr/>
          <p:nvPr/>
        </p:nvSpPr>
        <p:spPr>
          <a:xfrm>
            <a:off x="685800" y="4206240"/>
            <a:ext cx="502920" cy="502920"/>
          </a:xfrm>
          <a:prstGeom prst="ellipse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70248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17320" y="4069080"/>
            <a:ext cx="9875520" cy="9144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4206240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Muammo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Faqat sayt yetarli emas: telefon + ish stoli + veb parallel kerak.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" y="5257799"/>
            <a:ext cx="502920" cy="502920"/>
          </a:xfrm>
          <a:prstGeom prst="ellipse">
            <a:avLst/>
          </a:prstGeom>
          <a:solidFill>
            <a:srgbClr val="0478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321807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5120639"/>
            <a:ext cx="9875520" cy="914400"/>
          </a:xfrm>
          <a:prstGeom prst="roundRect">
            <a:avLst/>
          </a:prstGeom>
          <a:solidFill>
            <a:srgbClr val="0F172A"/>
          </a:solidFill>
          <a:ln w="1587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5257799"/>
            <a:ext cx="94183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DRF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BD5E1"/>
                </a:solidFill>
                <a:latin typeface="Calibri"/>
                <a:ea typeface="Calibri"/>
                <a:cs typeface="Calibri"/>
              </a:rPr>
              <a:t>Yechim: bitta dasturiy interfeys (API) orqali barcha platformalar ulanadi.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