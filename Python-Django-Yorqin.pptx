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-731520"/>
            <a:ext cx="3657600" cy="3657600"/>
          </a:xfrm>
          <a:prstGeom prst="ellipse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754880"/>
            <a:ext cx="2926080" cy="2926080"/>
          </a:xfrm>
          <a:prstGeom prst="ellipse">
            <a:avLst/>
          </a:prstGeom>
          <a:solidFill>
            <a:srgbClr val="FEE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2194560" cy="34747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PYTHON × DJANGO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51560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28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Kompyuterlarni boshqaradigan</a:t>
            </a:r>
          </a:p>
          <a:p>
            <a:pPr algn="l">
              <a:spcAft>
                <a:spcPts val="1000"/>
              </a:spcAft>
            </a:pPr>
            <a:r>
              <a:rPr sz="4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ENG KUCHLI BOSHLANG‘ICH TIL</a:t>
            </a:r>
          </a:p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Qanday ishlaydi? Django nima? Nima uchun millionlab dasturchilar tanlaydi?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Dasturlashni hali bilmaydiganlar uchun — lekin “vaaav” darajasida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BIRINCHI “VAAAV”</a:t>
            </a:r>
          </a:p>
          <a:p>
            <a:pPr algn="l">
              <a:spcAft>
                <a:spcPts val="600"/>
              </a:spcAft>
            </a:pPr>
            <a:r>
              <a:rPr sz="32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 — shunchaki maktab tili emas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51760" cy="347472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228600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28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#1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Ko‘p reytinglarda
eng ommabop tillardan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651760" cy="347472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2148840"/>
            <a:ext cx="228600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28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1 qator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Boshqa tillarda 5–10
qator bo‘ladigan 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2651760" cy="347472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228600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28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AI+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Sun’iy intellektning
asosiy tili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828800"/>
            <a:ext cx="2651760" cy="347472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2148840"/>
            <a:ext cx="228600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28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Instagram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Django (Python)
ustida qurilgan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ASOS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Dasturlash = kompyuterga aniq buyruq berish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828800"/>
            <a:ext cx="640080" cy="64008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38528"/>
            <a:ext cx="640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8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28800"/>
            <a:ext cx="91440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22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Siz g‘oya o‘ylaysiz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Masalan: son topish o‘yini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200400"/>
            <a:ext cx="640080" cy="64008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10128"/>
            <a:ext cx="640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8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00400"/>
            <a:ext cx="91440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22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 tilida yozasiz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Kompyuter tushunadigan qoidalar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572000"/>
            <a:ext cx="640080" cy="640080"/>
          </a:xfrm>
          <a:prstGeom prst="ellipse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681728"/>
            <a:ext cx="640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8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572000"/>
            <a:ext cx="91440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22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Kompyuter bajaradi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Sekundda millionlab amal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MUHIM SAVOL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Kompyuter sizning tilngizni tushunmaydi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303520" cy="402336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28016" cy="40233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938528"/>
            <a:ext cx="4892040" cy="3703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Siz yozasiz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print("Salom")
Bu — odam uchun o‘qiladigan matn.
Kompyuter esa faqat 0 va 1 ni tushunadi (elektr signal).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303520" cy="402336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128016" cy="402336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1938528"/>
            <a:ext cx="4892040" cy="3703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Shuning uchun kerak: TARJIMON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Sizning kodingizni kompyuter tushunadigan shaklga o‘tkazuvchi dastur.
Bu tarjimonning 2 asosiy turi bor:
1) COMPILER
2) INTERPRETATOR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1-TUR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COMPILER (kompilyator) nima?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486400" cy="457200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28016" cy="4572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64208"/>
            <a:ext cx="5074920" cy="4251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Oddiy misol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Kitobni BUTUNLAY tarjima qilib, keyin o‘qiysiz.
Avval hammasi tayyorlanadi,
keyin ishga tushadi.
Misollar: C, C++, Go, Rust
Natija: .exe / dastur fayli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120640" cy="457200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128016" cy="4572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1664208"/>
            <a:ext cx="4709160" cy="4251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Qanday ishlaydi?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1. Siz kod yozasiz
2. Compiler BIR MARTA tarjima qiladi
3. Chiqadi: tayyor dastur
4. Keyin shu dasturni ishga tushirasiz
Yutuq: odatda TEZROQ ishlaydi
Kamchilik: har o‘zgarishda qayta tarjima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2-TUR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INTERPRETATOR nima?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486400" cy="457200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28016" cy="457200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64208"/>
            <a:ext cx="5074920" cy="4251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Oddiy misol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Jonli tarjimon: gapirish bilan birga tarjima qiladi.
Kodni qatorma-qator (yoki bo‘lakma-bo‘lak) o‘qib bajaradi.
Misollar: shell skriptlar, ba’zi tillar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120640" cy="457200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128016" cy="4572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1664208"/>
            <a:ext cx="4709160" cy="4251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Qanday ishlaydi?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1. Siz kod yozasiz
2. Interpretator ochiladi
3. Kodni o‘qiydi va DARHOL bajaradi
4. Alohida .exe yasash shart emas
Yutuq: oson sinash, tez o‘rganish
Kamchilik: ba’zan sekinroq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SOLISHTIRISH</a:t>
            </a:r>
          </a:p>
          <a:p>
            <a:pPr algn="l">
              <a:spcAft>
                <a:spcPts val="600"/>
              </a:spcAft>
            </a:pPr>
            <a:r>
              <a:rPr sz="2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Compiler vs Interpretator — bir qarashda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234440"/>
            <a:ext cx="3749039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0" y="1280160"/>
            <a:ext cx="3749039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COMPILER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234440"/>
            <a:ext cx="3749039" cy="502920"/>
          </a:xfrm>
          <a:prstGeom prst="round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280160"/>
            <a:ext cx="3749039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INTERPRETATOR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11679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5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Nima qiladi?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874519"/>
            <a:ext cx="3749039" cy="77724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7640" y="2057399"/>
            <a:ext cx="3474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Oldindan to‘liq tarjima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874519"/>
            <a:ext cx="3749039" cy="77724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2057399"/>
            <a:ext cx="3474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Ishlatish paytida o‘qiydi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80359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5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Natija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2743199"/>
            <a:ext cx="3749039" cy="77724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40" y="2926079"/>
            <a:ext cx="3474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Tayyor dastur (.exe)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2743199"/>
            <a:ext cx="3749039" cy="77724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09560" y="2926079"/>
            <a:ext cx="3474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To‘g‘ridan-to‘g‘ri ishlaydi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5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Tezlik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0" y="3611879"/>
            <a:ext cx="3749039" cy="77724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40" y="3794759"/>
            <a:ext cx="3474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Ko‘pincha tezroq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3611879"/>
            <a:ext cx="3749039" cy="77724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59"/>
            <a:ext cx="3474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Ko‘pincha sekinroq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17718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5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O‘rganish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4480558"/>
            <a:ext cx="3749039" cy="77724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77640" y="4663438"/>
            <a:ext cx="3474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Biroz murakkabroq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4480558"/>
            <a:ext cx="3749039" cy="77724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4663438"/>
            <a:ext cx="3474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Boshlash osonroq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486399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5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Misol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0" y="5349239"/>
            <a:ext cx="3749039" cy="77724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77640" y="5532119"/>
            <a:ext cx="3474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C, C++, Go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5349239"/>
            <a:ext cx="3749039" cy="77724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5532119"/>
            <a:ext cx="3474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Shell, klassik BASIC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9728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PYTHON QANDAY ISHLAYDI?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 — ikkalasidan ham foydalanadi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Avval COMPILER kabi tarjima qiladi, keyin INTERPRETATOR kabi bajaradi.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920240"/>
            <a:ext cx="2103120" cy="32004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920240"/>
            <a:ext cx="2103120" cy="12801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18288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.py fayl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Siz yozgan
oddiy matn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5999" y="320040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20240"/>
            <a:ext cx="2103120" cy="32004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920240"/>
            <a:ext cx="2103120" cy="12801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2240280"/>
            <a:ext cx="18288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Compiler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Bytecode
ga aylantiradi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19" y="320040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920240"/>
            <a:ext cx="2103120" cy="32004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74920" y="1920240"/>
            <a:ext cx="2103120" cy="12801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240280"/>
            <a:ext cx="18288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Bytecode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Oraliq
“retsept”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39" y="320040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39" y="1920240"/>
            <a:ext cx="2103120" cy="32004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39" y="1920240"/>
            <a:ext cx="2103120" cy="128016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799" y="2240280"/>
            <a:ext cx="18288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Interpretator
(PVM)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Retseptni
bajaradi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8" y="320040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8360" y="1920240"/>
            <a:ext cx="2103120" cy="32004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38360" y="1920240"/>
            <a:ext cx="2103120" cy="1280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2240280"/>
            <a:ext cx="18288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Natija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Ekran / sayt
/ hisob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59669"/>
                </a:solidFill>
                <a:latin typeface="Calibri"/>
              </a:rPr>
              <a:t>ESLAB QOLING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3 jumla — hammasi shu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691640"/>
            <a:ext cx="777240" cy="77724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47088"/>
            <a:ext cx="777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1554480"/>
            <a:ext cx="9601200" cy="13258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0" y="1783080"/>
            <a:ext cx="91440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COMPILER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Kodni oldindan boshqa shaklga aylantiradi (masalan C).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246120"/>
            <a:ext cx="777240" cy="777240"/>
          </a:xfrm>
          <a:prstGeom prst="ellipse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401568"/>
            <a:ext cx="777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3108960"/>
            <a:ext cx="9601200" cy="13258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3337560"/>
            <a:ext cx="91440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INTERPRETATOR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Kodni ishga tushirish paytida o‘qib bajaradi.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800600"/>
            <a:ext cx="777240" cy="77724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7772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0" y="4663440"/>
            <a:ext cx="9601200" cy="13258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4892040"/>
            <a:ext cx="91440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Avval bytecode qiladi (compile), keyin PVM bajaradi (interpret).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XOTIRA SEHRI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O‘zgaruvchi — quti emas, ishora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3657600" cy="42062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28016" cy="4206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3246120" cy="3886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Boshqa tillarda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Ko‘pincha qiymat to‘g‘ridan-to‘g‘ri “quti”ga yoziladi.
Nusxa olish chalkash bo‘lishi mumkin.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554480"/>
            <a:ext cx="3657600" cy="42062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554480"/>
            <a:ext cx="128016" cy="42062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18888" y="1755648"/>
            <a:ext cx="3246120" cy="3886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 da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x = [1,2,3]
x — bu listga HAVOLA.
y = x desangiz — yangi list emas, XUDDI SHU obyekt.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1554480"/>
            <a:ext cx="3108960" cy="42062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554480"/>
            <a:ext cx="128016" cy="420624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05088" y="1755648"/>
            <a:ext cx="2697480" cy="3886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Nima uchun muhim?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Tezlik + xotira tejash.
Katta ma’lumotni keraksiz ko‘paytirmaydi.
GC axlatni o‘zi yig‘adi.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BOSHQA TILLAR QIYIN QILADIGAN NARSALAR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Pythonning “super kuchlari”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3657600" cy="21488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128016" cy="21488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709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AI / Machine Learning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TensorFlow, PyTorch, scikit-learn — dunyo standarti deyarli Python.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08760"/>
            <a:ext cx="3657600" cy="21488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508760"/>
            <a:ext cx="128016" cy="214884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1709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1 tilda 5 kasb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Veb + data + AI + avtomatlashtirish + skript — bitta til.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508760"/>
            <a:ext cx="3657600" cy="21488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83880" y="1508760"/>
            <a:ext cx="128016" cy="21488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6488" y="1709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Juda tez prototip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G‘oyadan ishlaydigan dasturga soatlar ichida.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3657600" cy="21488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40480"/>
            <a:ext cx="128016" cy="214884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404164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Fan va hisob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NASA, CERN, universitetlar — tadqiqotning sevimli tili.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657600" cy="21488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840480"/>
            <a:ext cx="128016" cy="21488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04164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Avtomatlashtirish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Excel, fayl, brauzer, bot — kundalik ishlarni “robotlashtirish”.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3840480"/>
            <a:ext cx="3657600" cy="21488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80" y="3840480"/>
            <a:ext cx="128016" cy="214884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404164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O‘qilishi = hujjat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Kodni o‘qib tushunish oson — jamoa tez ishlaydi.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FRAMEWORK GALAKTIKASI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Pythonning eng mashhur “qurollari”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657600" cy="22402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3657600" cy="128016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Django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To‘liq veb platforma
Instagram darajasi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657600" cy="22402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417320"/>
            <a:ext cx="3657600" cy="12801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7830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FastAPI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Zamonaviy API
Juda tez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417320"/>
            <a:ext cx="3657600" cy="22402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1417320"/>
            <a:ext cx="3657600" cy="128016"/>
          </a:xfrm>
          <a:prstGeom prst="rect">
            <a:avLst/>
          </a:prstGeom>
          <a:solidFill>
            <a:srgbClr val="00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7830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Flask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Yengil veb
Kichik loyihalar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86200"/>
            <a:ext cx="3657600" cy="22402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886200"/>
            <a:ext cx="3657600" cy="12801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5196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PyTorch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AI / deep learning
Tadqiqot + sanoat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886200"/>
            <a:ext cx="3657600" cy="22402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3886200"/>
            <a:ext cx="3657600" cy="1280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25196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Pandas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Ma’lumotlar jami
Excel dan kuchli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886200"/>
            <a:ext cx="3657600" cy="22402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3886200"/>
            <a:ext cx="3657600" cy="128016"/>
          </a:xfrm>
          <a:prstGeom prst="rect">
            <a:avLst/>
          </a:prstGeom>
          <a:solidFill>
            <a:srgbClr val="F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425196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Selenium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Brauzer avtomat
Test va botlar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914400"/>
            <a:ext cx="4572000" cy="4572000"/>
          </a:xfrm>
          <a:prstGeom prst="ellipse">
            <a:avLst/>
          </a:prstGeom>
          <a:solidFill>
            <a:srgbClr val="BBF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828800" cy="347472"/>
          </a:xfrm>
          <a:prstGeom prst="round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8288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DJANGO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05840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6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Sayt qurish uchun</a:t>
            </a:r>
          </a:p>
          <a:p>
            <a:pPr algn="l">
              <a:spcAft>
                <a:spcPts val="1200"/>
              </a:spcAft>
            </a:pPr>
            <a:r>
              <a:rPr sz="3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TAYYOR “SHAHAR INFRASTRUKTURASI”</a:t>
            </a:r>
          </a:p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Login, baza, admin, xavfsizlik — hammasi ichida. Siz g‘oya va mantiqqa e’tibor qaratasiz.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DJANGO QANDAY ISHLAYDI?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Bir so‘rovning sayohati (Request Journey)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657600" cy="224028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28016" cy="22402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61848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1. Brauzer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Foydalanuvchi
tugmani bosadi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657600" cy="224028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417320"/>
            <a:ext cx="128016" cy="22402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161848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2. URL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Django yo‘lni
topadi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417320"/>
            <a:ext cx="3657600" cy="224028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83880" y="1417320"/>
            <a:ext cx="128016" cy="224028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6488" y="161848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3. View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Mantiq ishlaydi
(Python kodi)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86200"/>
            <a:ext cx="3657600" cy="224028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86200"/>
            <a:ext cx="128016" cy="224028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408736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4. Model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Bazadan
ma’lumot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86200"/>
            <a:ext cx="3657600" cy="224028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886200"/>
            <a:ext cx="128016" cy="22402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08736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5. Template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HTML
yasailadi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3886200"/>
            <a:ext cx="3657600" cy="224028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80" y="3886200"/>
            <a:ext cx="128016" cy="22402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408736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6. Javob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Sahifa
qaytadi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DJANGO ARXITEKTURASI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MTV — Model · Template · 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3566160" cy="402336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3566160" cy="8229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5661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301752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Ma’lumotlar
(foydalanuvchi, mahsulot…)
Bazaga bog‘lanadi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566160" cy="402336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737360"/>
            <a:ext cx="3566160" cy="82296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920240"/>
            <a:ext cx="35661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926080"/>
            <a:ext cx="301752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Miya
Qanday javob berish?
Qanday hisoblash?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37360"/>
            <a:ext cx="3566160" cy="402336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737360"/>
            <a:ext cx="3566160" cy="82296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920240"/>
            <a:ext cx="35661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TEMPLATE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926080"/>
            <a:ext cx="301752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Ko‘rinish
Foydalanuvchi ko‘radigan
HTML sahifa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DJANGO SUPERPOWERS</a:t>
            </a:r>
          </a:p>
          <a:p>
            <a:pPr algn="l">
              <a:spcAft>
                <a:spcPts val="600"/>
              </a:spcAft>
            </a:pPr>
            <a:r>
              <a:rPr sz="2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Boshqa yondashuvlarda qo‘lda yoziladigan narsalar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3657600" cy="21488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128016" cy="214884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66420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Admin panel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1 buyruq bilan boshqaruv paneli — mahsulot/user qo‘shish.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657600" cy="21488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463040"/>
            <a:ext cx="128016" cy="214884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166420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ORM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SQL ni deyarli yozmasdan baza bilan ishlash.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463040"/>
            <a:ext cx="3657600" cy="21488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83880" y="1463040"/>
            <a:ext cx="128016" cy="214884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6488" y="166420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Auth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Ro‘yxatdan o‘tish, parol, ruxsatlar — tayyor.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94760"/>
            <a:ext cx="3657600" cy="21488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794760"/>
            <a:ext cx="128016" cy="21488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995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Xavfsizlik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CSRF, XSS himoyasi — “bateryalar ichida”.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794760"/>
            <a:ext cx="3657600" cy="21488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794760"/>
            <a:ext cx="128016" cy="21488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3995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Migrations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Baza o‘zgarishlarini versiya qilib saqlaydi.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3794760"/>
            <a:ext cx="3657600" cy="2148840"/>
          </a:xfrm>
          <a:prstGeom prst="roundRect">
            <a:avLst/>
          </a:prstGeom>
          <a:solidFill>
            <a:srgbClr val="F4FB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80" y="3794760"/>
            <a:ext cx="128016" cy="21488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3995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Scalable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Kichik blogdan Instagram darajasigacha yo‘l ochiq.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QAYSI FRAMEWORK?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Django · Flask · FastAPI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972800" cy="13716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46304" cy="137160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Django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691640"/>
            <a:ext cx="38404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Qachon?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111827"/>
                </a:solidFill>
                <a:latin typeface="Calibri"/>
              </a:rPr>
              <a:t>Katta sayt, admin, tez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91640"/>
            <a:ext cx="34747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His?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111827"/>
                </a:solidFill>
                <a:latin typeface="Calibri"/>
              </a:rPr>
              <a:t>To‘liq “kombayn”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10972800" cy="13716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017520"/>
            <a:ext cx="146304" cy="13716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9184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Flask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246120"/>
            <a:ext cx="38404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Qachon?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111827"/>
                </a:solidFill>
                <a:latin typeface="Calibri"/>
              </a:rPr>
              <a:t>Kichik API / sayt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246120"/>
            <a:ext cx="34747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His?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111827"/>
                </a:solidFill>
                <a:latin typeface="Calibri"/>
              </a:rPr>
              <a:t>Minimal, erkin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10972800" cy="13716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572000"/>
            <a:ext cx="146304" cy="13716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FastAPI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800600"/>
            <a:ext cx="38404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Qachon?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111827"/>
                </a:solidFill>
                <a:latin typeface="Calibri"/>
              </a:rPr>
              <a:t>Zamonaviy API, AI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800600"/>
            <a:ext cx="34747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His?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111827"/>
                </a:solidFill>
                <a:latin typeface="Calibri"/>
              </a:rPr>
              <a:t>Juda tez + avto-docs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HAQIQIY DUNYO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 + Django — kim ishlatadi?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3611880" cy="20116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Instagram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Django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554480"/>
            <a:ext cx="3611880" cy="20116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2057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YouTube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Python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554480"/>
            <a:ext cx="3611880" cy="20116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2057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Spotify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Python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40480"/>
            <a:ext cx="3611880" cy="20116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NASA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840480"/>
            <a:ext cx="3611880" cy="20116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4343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Pinterest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Django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840480"/>
            <a:ext cx="3611880" cy="201168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4343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Dropbox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Python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YO‘L XARITA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Noldan “vaaav” gacha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011680"/>
            <a:ext cx="2194560" cy="32004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01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 asoslari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print, if, funksiya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2011680"/>
            <a:ext cx="2194560" cy="32004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02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Loyiha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O‘yin /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011680"/>
            <a:ext cx="2194560" cy="32004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03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Django start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Birinchi sahifa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39" y="2011680"/>
            <a:ext cx="2194560" cy="32004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799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04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Django pro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Login + baza + 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38360" y="2011680"/>
            <a:ext cx="2194560" cy="3200400"/>
          </a:xfrm>
          <a:prstGeom prst="roundRect">
            <a:avLst/>
          </a:prstGeom>
          <a:solidFill>
            <a:srgbClr val="F4FB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0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05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Portfolio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O‘z saytingiz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FE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XULOSA</a:t>
            </a:r>
          </a:p>
          <a:p>
            <a:pPr algn="l">
              <a:spcAft>
                <a:spcPts val="1600"/>
              </a:spcAft>
            </a:pPr>
            <a:r>
              <a:rPr sz="3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 — oson ko‘rinadi.
Ichida esa jiddiy motor.</a:t>
            </a:r>
          </a:p>
          <a:p>
            <a:pPr algn="l">
              <a:spcAft>
                <a:spcPts val="2000"/>
              </a:spcAft>
            </a:pPr>
            <a:r>
              <a:rPr sz="20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Django — shu motor bilan butun sayt shaharini qurish.</a:t>
            </a:r>
          </a:p>
          <a:p>
            <a:pPr algn="l">
              <a:spcAft>
                <a:spcPts val="600"/>
              </a:spcAft>
            </a:pPr>
            <a:r>
              <a:rPr sz="18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Keyingi qadam: birinchi print("Salom") — keyin Django.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